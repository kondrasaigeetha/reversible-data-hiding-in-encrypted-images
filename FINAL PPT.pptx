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8" r:id="rId2"/>
    <p:sldId id="309" r:id="rId3"/>
    <p:sldId id="260" r:id="rId4"/>
    <p:sldId id="310" r:id="rId5"/>
    <p:sldId id="311" r:id="rId6"/>
    <p:sldId id="312" r:id="rId7"/>
    <p:sldId id="313" r:id="rId8"/>
    <p:sldId id="261" r:id="rId9"/>
    <p:sldId id="263" r:id="rId10"/>
    <p:sldId id="264" r:id="rId11"/>
    <p:sldId id="265" r:id="rId12"/>
    <p:sldId id="266" r:id="rId13"/>
    <p:sldId id="267" r:id="rId14"/>
    <p:sldId id="314" r:id="rId15"/>
    <p:sldId id="316" r:id="rId16"/>
    <p:sldId id="315" r:id="rId17"/>
    <p:sldId id="277" r:id="rId18"/>
    <p:sldId id="270" r:id="rId19"/>
    <p:sldId id="271" r:id="rId20"/>
    <p:sldId id="327" r:id="rId21"/>
    <p:sldId id="328" r:id="rId22"/>
    <p:sldId id="276"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303" r:id="rId38"/>
    <p:sldId id="292" r:id="rId39"/>
    <p:sldId id="330" r:id="rId40"/>
    <p:sldId id="347" r:id="rId41"/>
    <p:sldId id="346" r:id="rId42"/>
    <p:sldId id="345" r:id="rId43"/>
    <p:sldId id="344" r:id="rId44"/>
    <p:sldId id="343" r:id="rId45"/>
    <p:sldId id="342" r:id="rId46"/>
    <p:sldId id="341" r:id="rId47"/>
    <p:sldId id="340" r:id="rId48"/>
    <p:sldId id="339" r:id="rId49"/>
    <p:sldId id="338" r:id="rId50"/>
    <p:sldId id="335" r:id="rId51"/>
    <p:sldId id="337" r:id="rId52"/>
    <p:sldId id="336" r:id="rId53"/>
    <p:sldId id="272" r:id="rId54"/>
    <p:sldId id="273" r:id="rId55"/>
    <p:sldId id="274" r:id="rId56"/>
    <p:sldId id="275"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1" d="100"/>
          <a:sy n="91" d="100"/>
        </p:scale>
        <p:origin x="1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0D2D60D0-3B3D-4AF1-A931-47E1D73CC86C}" type="datetimeFigureOut">
              <a:rPr lang="en-US" smtClean="0"/>
              <a:t>7/24/2025</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37495966-6787-4B30-9910-9CF235CC6990}" type="slidenum">
              <a:rPr lang="en-US" smtClean="0"/>
              <a:t>‹#›</a:t>
            </a:fld>
            <a:endParaRPr lang="en-US"/>
          </a:p>
        </p:txBody>
      </p:sp>
    </p:spTree>
    <p:extLst>
      <p:ext uri="{BB962C8B-B14F-4D97-AF65-F5344CB8AC3E}">
        <p14:creationId xmlns:p14="http://schemas.microsoft.com/office/powerpoint/2010/main" val="149286610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D2D60D0-3B3D-4AF1-A931-47E1D73CC86C}" type="datetimeFigureOut">
              <a:rPr lang="en-US" smtClean="0"/>
              <a:t>7/24/2025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495966-6787-4B30-9910-9CF235CC6990}" type="slidenum">
              <a:rPr lang="en-US" smtClean="0"/>
              <a:t>‹#›</a:t>
            </a:fld>
            <a:endParaRPr lang="en-US"/>
          </a:p>
        </p:txBody>
      </p:sp>
    </p:spTree>
    <p:extLst>
      <p:ext uri="{BB962C8B-B14F-4D97-AF65-F5344CB8AC3E}">
        <p14:creationId xmlns:p14="http://schemas.microsoft.com/office/powerpoint/2010/main" val="2814505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0D2D60D0-3B3D-4AF1-A931-47E1D73CC86C}" type="datetimeFigureOut">
              <a:rPr lang="en-US" smtClean="0"/>
              <a:t>7/24/2025</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37495966-6787-4B30-9910-9CF235CC6990}" type="slidenum">
              <a:rPr lang="en-US" smtClean="0"/>
              <a:t>‹#›</a:t>
            </a:fld>
            <a:endParaRPr lang="en-US"/>
          </a:p>
        </p:txBody>
      </p:sp>
    </p:spTree>
    <p:extLst>
      <p:ext uri="{BB962C8B-B14F-4D97-AF65-F5344CB8AC3E}">
        <p14:creationId xmlns:p14="http://schemas.microsoft.com/office/powerpoint/2010/main" val="250092941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D2D60D0-3B3D-4AF1-A931-47E1D73CC86C}" type="datetimeFigureOut">
              <a:rPr lang="en-US" smtClean="0"/>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495966-6787-4B30-9910-9CF235CC6990}" type="slidenum">
              <a:rPr lang="en-US" smtClean="0"/>
              <a:t>‹#›</a:t>
            </a:fld>
            <a:endParaRPr lang="en-US"/>
          </a:p>
        </p:txBody>
      </p:sp>
    </p:spTree>
    <p:extLst>
      <p:ext uri="{BB962C8B-B14F-4D97-AF65-F5344CB8AC3E}">
        <p14:creationId xmlns:p14="http://schemas.microsoft.com/office/powerpoint/2010/main" val="1353889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D2D60D0-3B3D-4AF1-A931-47E1D73CC86C}" type="datetimeFigureOut">
              <a:rPr lang="en-US" smtClean="0"/>
              <a:t>7/24/2025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495966-6787-4B30-9910-9CF235CC6990}" type="slidenum">
              <a:rPr lang="en-US" smtClean="0"/>
              <a:t>‹#›</a:t>
            </a:fld>
            <a:endParaRPr lang="en-US"/>
          </a:p>
        </p:txBody>
      </p:sp>
    </p:spTree>
    <p:extLst>
      <p:ext uri="{BB962C8B-B14F-4D97-AF65-F5344CB8AC3E}">
        <p14:creationId xmlns:p14="http://schemas.microsoft.com/office/powerpoint/2010/main" val="1850692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D2D60D0-3B3D-4AF1-A931-47E1D73CC86C}" type="datetimeFigureOut">
              <a:rPr lang="en-US" smtClean="0"/>
              <a:t>7/24/2025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495966-6787-4B30-9910-9CF235CC6990}" type="slidenum">
              <a:rPr lang="en-US" smtClean="0"/>
              <a:t>‹#›</a:t>
            </a:fld>
            <a:endParaRPr lang="en-US"/>
          </a:p>
        </p:txBody>
      </p:sp>
    </p:spTree>
    <p:extLst>
      <p:ext uri="{BB962C8B-B14F-4D97-AF65-F5344CB8AC3E}">
        <p14:creationId xmlns:p14="http://schemas.microsoft.com/office/powerpoint/2010/main" val="1579376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2D60D0-3B3D-4AF1-A931-47E1D73CC86C}" type="datetimeFigureOut">
              <a:rPr lang="en-US" smtClean="0"/>
              <a:t>7/24/2025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495966-6787-4B30-9910-9CF235CC6990}" type="slidenum">
              <a:rPr lang="en-US" smtClean="0"/>
              <a:t>‹#›</a:t>
            </a:fld>
            <a:endParaRPr lang="en-US"/>
          </a:p>
        </p:txBody>
      </p:sp>
    </p:spTree>
    <p:extLst>
      <p:ext uri="{BB962C8B-B14F-4D97-AF65-F5344CB8AC3E}">
        <p14:creationId xmlns:p14="http://schemas.microsoft.com/office/powerpoint/2010/main" val="3377623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p:cNvSpPr>
            <a:spLocks noGrp="1"/>
          </p:cNvSpPr>
          <p:nvPr>
            <p:ph type="dt" sz="half" idx="10"/>
          </p:nvPr>
        </p:nvSpPr>
        <p:spPr/>
        <p:txBody>
          <a:bodyPr/>
          <a:lstStyle/>
          <a:p>
            <a:fld id="{0D2D60D0-3B3D-4AF1-A931-47E1D73CC86C}" type="datetimeFigureOut">
              <a:rPr lang="en-US" smtClean="0"/>
              <a:t>7/24/2025</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37495966-6787-4B30-9910-9CF235CC6990}"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14985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0D2D60D0-3B3D-4AF1-A931-47E1D73CC86C}" type="datetimeFigureOut">
              <a:rPr lang="en-US" smtClean="0"/>
              <a:t>7/24/2025</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37495966-6787-4B30-9910-9CF235CC6990}"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68277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D2D60D0-3B3D-4AF1-A931-47E1D73CC86C}"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495966-6787-4B30-9910-9CF235CC6990}" type="slidenum">
              <a:rPr lang="en-US" smtClean="0"/>
              <a:t>‹#›</a:t>
            </a:fld>
            <a:endParaRPr lang="en-US"/>
          </a:p>
        </p:txBody>
      </p:sp>
    </p:spTree>
    <p:extLst>
      <p:ext uri="{BB962C8B-B14F-4D97-AF65-F5344CB8AC3E}">
        <p14:creationId xmlns:p14="http://schemas.microsoft.com/office/powerpoint/2010/main" val="295992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D2D60D0-3B3D-4AF1-A931-47E1D73CC86C}"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495966-6787-4B30-9910-9CF235CC6990}" type="slidenum">
              <a:rPr lang="en-US" smtClean="0"/>
              <a:t>‹#›</a:t>
            </a:fld>
            <a:endParaRPr lang="en-US"/>
          </a:p>
        </p:txBody>
      </p:sp>
    </p:spTree>
    <p:extLst>
      <p:ext uri="{BB962C8B-B14F-4D97-AF65-F5344CB8AC3E}">
        <p14:creationId xmlns:p14="http://schemas.microsoft.com/office/powerpoint/2010/main" val="2963007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0D2D60D0-3B3D-4AF1-A931-47E1D73CC86C}" type="datetimeFigureOut">
              <a:rPr lang="en-US" smtClean="0"/>
              <a:t>7/24/2025</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7495966-6787-4B30-9910-9CF235CC6990}" type="slidenum">
              <a:rPr lang="en-US" smtClean="0"/>
              <a:t>‹#›</a:t>
            </a:fld>
            <a:endParaRPr lang="en-US"/>
          </a:p>
        </p:txBody>
      </p:sp>
    </p:spTree>
    <p:extLst>
      <p:ext uri="{BB962C8B-B14F-4D97-AF65-F5344CB8AC3E}">
        <p14:creationId xmlns:p14="http://schemas.microsoft.com/office/powerpoint/2010/main" val="26595342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06922" y="2121401"/>
            <a:ext cx="8877837" cy="2213106"/>
          </a:xfrm>
          <a:prstGeom prst="rect">
            <a:avLst/>
          </a:prstGeom>
        </p:spPr>
        <p:txBody>
          <a:bodyPr wrap="square">
            <a:spAutoFit/>
          </a:bodyPr>
          <a:lstStyle/>
          <a:p>
            <a:pPr algn="ctr">
              <a:lnSpc>
                <a:spcPct val="107000"/>
              </a:lnSpc>
              <a:spcAft>
                <a:spcPts val="800"/>
              </a:spcAft>
            </a:pPr>
            <a:r>
              <a:rPr lang="en-US" sz="2800" b="1" dirty="0">
                <a:latin typeface="Times New Roman" panose="02020603050405020304" pitchFamily="18" charset="0"/>
                <a:cs typeface="Times New Roman" panose="02020603050405020304" pitchFamily="18" charset="0"/>
              </a:rPr>
              <a:t>Reversible Data Hiding in Encrypted Images</a:t>
            </a:r>
          </a:p>
          <a:p>
            <a:pPr algn="ctr">
              <a:lnSpc>
                <a:spcPct val="107000"/>
              </a:lnSpc>
              <a:spcAft>
                <a:spcPts val="800"/>
              </a:spcAft>
            </a:pPr>
            <a:r>
              <a:rPr lang="en-US" sz="2800" b="1" dirty="0">
                <a:latin typeface="Times New Roman" panose="02020603050405020304" pitchFamily="18" charset="0"/>
                <a:cs typeface="Times New Roman" panose="02020603050405020304" pitchFamily="18" charset="0"/>
              </a:rPr>
              <a:t>Based on Edge-Directed Prediction and</a:t>
            </a:r>
          </a:p>
          <a:p>
            <a:pPr algn="ctr">
              <a:lnSpc>
                <a:spcPct val="107000"/>
              </a:lnSpc>
              <a:spcAft>
                <a:spcPts val="800"/>
              </a:spcAft>
            </a:pPr>
            <a:r>
              <a:rPr lang="en-US" sz="2800" b="1" dirty="0">
                <a:latin typeface="Times New Roman" panose="02020603050405020304" pitchFamily="18" charset="0"/>
                <a:cs typeface="Times New Roman" panose="02020603050405020304" pitchFamily="18" charset="0"/>
              </a:rPr>
              <a:t>Multi-MSB Self-Prediction</a:t>
            </a:r>
          </a:p>
          <a:p>
            <a:pPr algn="ctr">
              <a:lnSpc>
                <a:spcPct val="107000"/>
              </a:lnSpc>
              <a:spcAft>
                <a:spcPts val="800"/>
              </a:spcAft>
            </a:pP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1731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33505" y="194174"/>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bg1"/>
                </a:solidFill>
                <a:latin typeface="Times New Roman" panose="02020603050405020304" pitchFamily="18" charset="0"/>
                <a:cs typeface="Times New Roman" panose="02020603050405020304" pitchFamily="18" charset="0"/>
              </a:rPr>
              <a:t>                            INDEX</a:t>
            </a:r>
          </a:p>
        </p:txBody>
      </p:sp>
      <p:sp>
        <p:nvSpPr>
          <p:cNvPr id="3" name="Content Placeholder 2"/>
          <p:cNvSpPr txBox="1"/>
          <p:nvPr/>
        </p:nvSpPr>
        <p:spPr>
          <a:xfrm>
            <a:off x="1436954" y="1087395"/>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1400" dirty="0">
                <a:solidFill>
                  <a:schemeClr val="tx1"/>
                </a:solidFill>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endParaRPr lang="en-US" sz="1400" dirty="0">
              <a:solidFill>
                <a:schemeClr val="tx1"/>
              </a:solidFill>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1400" dirty="0">
              <a:solidFill>
                <a:schemeClr val="tx1"/>
              </a:solidFill>
              <a:latin typeface="Times New Roman" panose="02020603050405020304" pitchFamily="18" charset="0"/>
              <a:cs typeface="Times New Roman" panose="02020603050405020304" pitchFamily="18" charset="0"/>
            </a:endParaRPr>
          </a:p>
          <a:p>
            <a:pPr marL="768350" lvl="2" indent="0">
              <a:lnSpc>
                <a:spcPct val="170000"/>
              </a:lnSpc>
              <a:buNone/>
            </a:pPr>
            <a:endParaRPr lang="en-US" sz="14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1" y="1087395"/>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Project </a:t>
            </a:r>
            <a:r>
              <a:rPr lang="en-US" dirty="0" smtClean="0">
                <a:solidFill>
                  <a:schemeClr val="tx1"/>
                </a:solidFill>
                <a:latin typeface="Times New Roman" panose="02020603050405020304" pitchFamily="18" charset="0"/>
                <a:cs typeface="Times New Roman" panose="02020603050405020304" pitchFamily="18" charset="0"/>
              </a:rPr>
              <a:t>Flow</a:t>
            </a:r>
          </a:p>
          <a:p>
            <a:pPr lvl="2">
              <a:lnSpc>
                <a:spcPct val="170000"/>
              </a:lnSpc>
              <a:buFont typeface="Wingdings" panose="05000000000000000000" pitchFamily="2" charset="2"/>
              <a:buChar char="v"/>
            </a:pPr>
            <a:r>
              <a:rPr lang="en-US" dirty="0" smtClean="0">
                <a:solidFill>
                  <a:schemeClr val="tx1"/>
                </a:solidFill>
                <a:latin typeface="Times New Roman" panose="02020603050405020304" pitchFamily="18" charset="0"/>
                <a:cs typeface="Times New Roman" panose="02020603050405020304" pitchFamily="18" charset="0"/>
              </a:rPr>
              <a:t>Hardware </a:t>
            </a:r>
            <a:r>
              <a:rPr lang="en-US" dirty="0">
                <a:solidFill>
                  <a:schemeClr val="tx1"/>
                </a:solidFill>
                <a:latin typeface="Times New Roman" panose="02020603050405020304" pitchFamily="18" charset="0"/>
                <a:cs typeface="Times New Roman" panose="02020603050405020304" pitchFamily="18" charset="0"/>
              </a:rPr>
              <a:t>and Software Requirements</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Output Screens</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Conclusion</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Future Work</a:t>
            </a:r>
          </a:p>
          <a:p>
            <a:pPr lvl="2">
              <a:lnSpc>
                <a:spcPct val="170000"/>
              </a:lnSpc>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References</a:t>
            </a:r>
          </a:p>
          <a:p>
            <a:pPr marL="768350" lvl="2" indent="0">
              <a:lnSpc>
                <a:spcPct val="170000"/>
              </a:lnSpc>
              <a:buNone/>
            </a:pPr>
            <a:r>
              <a:rPr lang="en-US" dirty="0">
                <a:solidFill>
                  <a:schemeClr val="tx1"/>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4437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450067" y="0"/>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latin typeface="Times New Roman" panose="02020603050405020304" pitchFamily="18" charset="0"/>
                <a:cs typeface="Times New Roman" panose="02020603050405020304" pitchFamily="18" charset="0"/>
              </a:rPr>
              <a:t>    ABSTRACT</a:t>
            </a:r>
            <a:endParaRPr lang="en-US" dirty="0">
              <a:latin typeface="Times New Roman" panose="02020603050405020304" pitchFamily="18" charset="0"/>
              <a:cs typeface="Times New Roman" panose="02020603050405020304" pitchFamily="18" charset="0"/>
            </a:endParaRPr>
          </a:p>
        </p:txBody>
      </p:sp>
      <p:sp>
        <p:nvSpPr>
          <p:cNvPr id="3" name="Rectangle 2"/>
          <p:cNvSpPr/>
          <p:nvPr/>
        </p:nvSpPr>
        <p:spPr>
          <a:xfrm>
            <a:off x="1031966" y="755560"/>
            <a:ext cx="10280468" cy="6064737"/>
          </a:xfrm>
          <a:prstGeom prst="rect">
            <a:avLst/>
          </a:prstGeom>
        </p:spPr>
        <p:txBody>
          <a:bodyPr wrap="square">
            <a:spAutoFit/>
          </a:bodyPr>
          <a:lstStyle/>
          <a:p>
            <a:pPr algn="just">
              <a:lnSpc>
                <a:spcPct val="150000"/>
              </a:lnSpc>
              <a:spcAft>
                <a:spcPts val="800"/>
              </a:spcAft>
            </a:pPr>
            <a:r>
              <a:rPr lang="en-US" dirty="0">
                <a:latin typeface="Times New Roman" panose="02020603050405020304" pitchFamily="18" charset="0"/>
                <a:cs typeface="Times New Roman" panose="02020603050405020304" pitchFamily="18" charset="0"/>
              </a:rPr>
              <a:t>This paper proposes a high-capacity reversible data hiding in encrypted images (RDH-EI) method that combines edge-directed prediction (EDP) and multi-MSB self-prediction. The system aims to securely embed additional data within encrypted grayscale images without compromising the original image quality. The proposed method involves two main participants: the data owner and the data user, with an admin responsible for authorizing user access. The data owner encrypts the image, while the data user can request the image and retrieve it only after OTP verification. The method utilizes advanced algorithms, such as MSB prediction and adaptive error embedding, to enhance data embedding capacity and improve encryption security. Experimental results demonstrate that the method achieves high embedding rates, security, and lossless image recovery, outperforming state-of-the-art RDH-EI techniques. This technique ensures confidentiality and integrity while providing a reversible process for image recovery and data extraction.</a:t>
            </a:r>
          </a:p>
          <a:p>
            <a:pPr algn="just">
              <a:lnSpc>
                <a:spcPct val="150000"/>
              </a:lnSpc>
              <a:spcAft>
                <a:spcPts val="800"/>
              </a:spcAft>
            </a:pPr>
            <a:r>
              <a:rPr lang="en-US" dirty="0">
                <a:latin typeface="Times New Roman" panose="02020603050405020304" pitchFamily="18" charset="0"/>
                <a:cs typeface="Times New Roman" panose="02020603050405020304" pitchFamily="18" charset="0"/>
              </a:rPr>
              <a:t>Keywords</a:t>
            </a:r>
          </a:p>
          <a:p>
            <a:pPr algn="just">
              <a:lnSpc>
                <a:spcPct val="150000"/>
              </a:lnSpc>
              <a:spcAft>
                <a:spcPts val="800"/>
              </a:spcAft>
            </a:pPr>
            <a:r>
              <a:rPr lang="en-US" dirty="0">
                <a:latin typeface="Times New Roman" panose="02020603050405020304" pitchFamily="18" charset="0"/>
                <a:cs typeface="Times New Roman" panose="02020603050405020304" pitchFamily="18" charset="0"/>
              </a:rPr>
              <a:t>Reversible Data Hiding, Encrypted Images, Edge-Directed Prediction, Multi-MSB Self-Prediction, Data Embedding, Image Encryption, Data Security, OTP Verification, Image Recovery, Reversible Data Hiding in Encrypted Domain (RDH-EI).</a:t>
            </a:r>
          </a:p>
        </p:txBody>
      </p:sp>
    </p:spTree>
    <p:extLst>
      <p:ext uri="{BB962C8B-B14F-4D97-AF65-F5344CB8AC3E}">
        <p14:creationId xmlns:p14="http://schemas.microsoft.com/office/powerpoint/2010/main" val="1387530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54070" y="11254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OBJECTIVE OF PROJECT</a:t>
            </a:r>
          </a:p>
        </p:txBody>
      </p:sp>
      <p:sp>
        <p:nvSpPr>
          <p:cNvPr id="4" name="Rectangle 3"/>
          <p:cNvSpPr/>
          <p:nvPr/>
        </p:nvSpPr>
        <p:spPr>
          <a:xfrm>
            <a:off x="1854926" y="1226300"/>
            <a:ext cx="9313817" cy="3787383"/>
          </a:xfrm>
          <a:prstGeom prst="rect">
            <a:avLst/>
          </a:prstGeom>
        </p:spPr>
        <p:txBody>
          <a:bodyPr wrap="square">
            <a:spAutoFit/>
          </a:bodyPr>
          <a:lstStyle/>
          <a:p>
            <a:pPr algn="just">
              <a:lnSpc>
                <a:spcPct val="150000"/>
              </a:lnSpc>
              <a:spcBef>
                <a:spcPts val="1200"/>
              </a:spcBef>
              <a:spcAft>
                <a:spcPts val="800"/>
              </a:spcAft>
            </a:pPr>
            <a:r>
              <a:rPr lang="en-US" dirty="0">
                <a:latin typeface="Times New Roman" panose="02020603050405020304" pitchFamily="18" charset="0"/>
                <a:cs typeface="Times New Roman" panose="02020603050405020304" pitchFamily="18" charset="0"/>
              </a:rPr>
              <a:t>The objective of this project is to develop a high-capacity Reversible Data Hiding in Encrypted Images (RDH-EI) method that enables efficient embedding of additional data into encrypted grayscale images while ensuring the lossless recovery of the original image. The project aims to implement advanced data embedding techniques using Edge-Directed Prediction (EDP) and Multi-MSB Self-Prediction to enhance embedding capacity and accuracy. It also focuses on ensuring secure and reversible image recovery through encryption and data extraction processes. Furthermore, the project incorporates a user authorization system with OTP verification to prevent unauthorized access and maintain data privacy, ultimately achieving high embedding capacity without compromising image quality or security.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48492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047030"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solidFill>
                  <a:schemeClr val="tx1"/>
                </a:solidFill>
                <a:latin typeface="Times New Roman" panose="02020603050405020304" pitchFamily="18" charset="0"/>
                <a:cs typeface="Times New Roman" panose="02020603050405020304" pitchFamily="18" charset="0"/>
              </a:rPr>
              <a:t>      PROBLEM </a:t>
            </a:r>
            <a:r>
              <a:rPr lang="en-US" sz="3600" b="1" dirty="0">
                <a:solidFill>
                  <a:schemeClr val="tx1"/>
                </a:solidFill>
                <a:latin typeface="Times New Roman" panose="02020603050405020304" pitchFamily="18" charset="0"/>
                <a:cs typeface="Times New Roman" panose="02020603050405020304" pitchFamily="18" charset="0"/>
              </a:rPr>
              <a:t>STATEMENT</a:t>
            </a:r>
          </a:p>
        </p:txBody>
      </p:sp>
      <p:sp>
        <p:nvSpPr>
          <p:cNvPr id="4" name="Rectangle 3"/>
          <p:cNvSpPr/>
          <p:nvPr/>
        </p:nvSpPr>
        <p:spPr>
          <a:xfrm>
            <a:off x="1778549" y="1438651"/>
            <a:ext cx="9259565" cy="3365986"/>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As cloud storage and encrypted communication become more prevalent, ensuring the security and privacy of image data is crucial. Traditional data hiding methods cannot be applied to encrypted images due to the loss of spatial redundancy, limiting data embedding capacity. Existing Reversible Data Hiding in Encrypted Images (RDH-EI) techniques struggle with achieving high embedding capacity while ensuring secure, reversible image recovery. This work aims to develop a high-capacity, secure RDH-EI method that allows data embedding in encrypted images and guarantees lossless image recovery, with an effective user authorization system to prevent unauthorized access.</a:t>
            </a:r>
            <a:endParaRPr lang="en-IN" dirty="0"/>
          </a:p>
        </p:txBody>
      </p:sp>
    </p:spTree>
    <p:extLst>
      <p:ext uri="{BB962C8B-B14F-4D97-AF65-F5344CB8AC3E}">
        <p14:creationId xmlns:p14="http://schemas.microsoft.com/office/powerpoint/2010/main" val="22390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9810" y="1411666"/>
            <a:ext cx="9775453" cy="3785652"/>
          </a:xfrm>
          <a:prstGeom prst="rect">
            <a:avLst/>
          </a:prstGeom>
        </p:spPr>
        <p:txBody>
          <a:bodyPr wrap="square">
            <a:spAutoFit/>
          </a:bodyPr>
          <a:lstStyle/>
          <a:p>
            <a:pPr algn="just">
              <a:lnSpc>
                <a:spcPct val="150000"/>
              </a:lnSpc>
            </a:pPr>
            <a:r>
              <a:rPr lang="en-US" sz="2000" b="1" dirty="0" smtClean="0">
                <a:latin typeface="Times New Roman" panose="02020603050405020304" pitchFamily="18" charset="0"/>
                <a:cs typeface="Times New Roman" panose="02020603050405020304" pitchFamily="18" charset="0"/>
              </a:rPr>
              <a:t>Scope : </a:t>
            </a:r>
            <a:r>
              <a:rPr lang="en-US" sz="2000" dirty="0">
                <a:latin typeface="Times New Roman" panose="02020603050405020304" pitchFamily="18" charset="0"/>
                <a:cs typeface="Times New Roman" panose="02020603050405020304" pitchFamily="18" charset="0"/>
              </a:rPr>
              <a:t>The scope of this project encompasses the development of a high-capacity Reversible Data Hiding in Encrypted Images (RDH-EI) method that enables secure and efficient data embedding in encrypted grayscale images. It focuses on utilizing advanced prediction techniques like Edge-Directed Prediction (EDP) and Multi-MSB Self-Prediction to optimize embedding capacity while ensuring lossless image recovery. The project also integrates a robust user authorization system with OTP verification to prevent unauthorized access and safeguard data privacy. The solution is designed for applications in cloud storage and secure communication where both data security and image integrity are critical.</a:t>
            </a: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594130" y="25723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SCOPE AND MOTIVATION</a:t>
            </a:r>
          </a:p>
        </p:txBody>
      </p:sp>
    </p:spTree>
    <p:extLst>
      <p:ext uri="{BB962C8B-B14F-4D97-AF65-F5344CB8AC3E}">
        <p14:creationId xmlns:p14="http://schemas.microsoft.com/office/powerpoint/2010/main" val="3528667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9091" y="1341120"/>
            <a:ext cx="11330150" cy="507831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With the rise of cloud computing and increasing concerns over data privacy, protecting sensitive data, especially in images, has become a major priority. Traditional data hiding techniques struggle with encrypted images due to the loss of spatial redundancy after encryption. Reversible Data Hiding in Encrypted Images (RDH-EI) addresses this challenge, allowing additional data to be embedded in encrypted images while ensuring the original image can be perfectly restored.</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motivation for this work is to enhance both the security and capacity of RDH-EI methods. By incorporating Edge-Directed Prediction (EDP) and Multi-MSB Self-Prediction, this method provides higher embedding capacity and greater accuracy compared to existing techniques. Additionally, the inclusion of an admin role for user authorization and OTP verification ensures that only authorized users can access and recover the original image, adding a layer of security critical for applications in fields like medical imaging and secure communications.</a:t>
            </a:r>
          </a:p>
          <a:p>
            <a:pPr algn="just">
              <a:lnSpc>
                <a:spcPct val="150000"/>
              </a:lnSpc>
            </a:pPr>
            <a:r>
              <a:rPr lang="en-US" dirty="0">
                <a:latin typeface="Times New Roman" panose="02020603050405020304" pitchFamily="18" charset="0"/>
                <a:cs typeface="Times New Roman" panose="02020603050405020304" pitchFamily="18" charset="0"/>
              </a:rPr>
              <a:t>This approach aims to improve the efficiency, security, and reversibility of data hiding in encrypted images, contributing to the ongoing effort to safeguard sensitive data in cloud-based environments.</a:t>
            </a:r>
            <a:endParaRPr lang="en-US" dirty="0">
              <a:latin typeface="Times New Roman" panose="02020603050405020304" pitchFamily="18" charset="0"/>
              <a:cs typeface="Times New Roman" panose="02020603050405020304" pitchFamily="18" charset="0"/>
            </a:endParaRPr>
          </a:p>
        </p:txBody>
      </p:sp>
      <p:sp>
        <p:nvSpPr>
          <p:cNvPr id="3" name="Title 1"/>
          <p:cNvSpPr txBox="1"/>
          <p:nvPr/>
        </p:nvSpPr>
        <p:spPr>
          <a:xfrm>
            <a:off x="1503151" y="20398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SCOPE AND MOTIVATION</a:t>
            </a:r>
          </a:p>
        </p:txBody>
      </p:sp>
    </p:spTree>
    <p:extLst>
      <p:ext uri="{BB962C8B-B14F-4D97-AF65-F5344CB8AC3E}">
        <p14:creationId xmlns:p14="http://schemas.microsoft.com/office/powerpoint/2010/main" val="581016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731930" y="261257"/>
            <a:ext cx="8596668" cy="759854"/>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latin typeface="Times New Roman" panose="02020603050405020304" pitchFamily="18" charset="0"/>
                <a:cs typeface="Times New Roman" panose="02020603050405020304" pitchFamily="18" charset="0"/>
              </a:rPr>
              <a:t>      INTRODUCTION</a:t>
            </a:r>
            <a:endParaRPr lang="en-US" dirty="0">
              <a:latin typeface="Times New Roman" panose="02020603050405020304" pitchFamily="18" charset="0"/>
              <a:cs typeface="Times New Roman" panose="02020603050405020304" pitchFamily="18" charset="0"/>
            </a:endParaRPr>
          </a:p>
        </p:txBody>
      </p:sp>
      <p:sp>
        <p:nvSpPr>
          <p:cNvPr id="3" name="Rectangle 2"/>
          <p:cNvSpPr/>
          <p:nvPr/>
        </p:nvSpPr>
        <p:spPr>
          <a:xfrm>
            <a:off x="504495" y="949146"/>
            <a:ext cx="11414235" cy="5909310"/>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With the growing reliance on cloud storage and encrypted communication for safeguarding sensitive data, ensuring the security and privacy of image files has become a significant concern. Traditional data hiding techniques, which embed additional data into images, are not suitable for encrypted images due to the loss of spatial redundancy caused by encryption. This limitation restricts the capacity to embed data while maintaining the original image quality.</a:t>
            </a:r>
          </a:p>
          <a:p>
            <a:pPr algn="just">
              <a:lnSpc>
                <a:spcPct val="150000"/>
              </a:lnSpc>
            </a:pPr>
            <a:r>
              <a:rPr lang="en-US" dirty="0">
                <a:latin typeface="Times New Roman" panose="02020603050405020304" pitchFamily="18" charset="0"/>
                <a:cs typeface="Times New Roman" panose="02020603050405020304" pitchFamily="18" charset="0"/>
              </a:rPr>
              <a:t>Reversible Data Hiding in Encrypted Images (RDH-EI) has emerged as a solution to this problem, enabling the embedding of data within encrypted images while ensuring that the original image can be perfectly restored. However, existing RDH-EI methods face challenges in achieving high embedding capacity and maintaining secure, lossless recovery of the image.</a:t>
            </a:r>
          </a:p>
          <a:p>
            <a:pPr algn="just">
              <a:lnSpc>
                <a:spcPct val="150000"/>
              </a:lnSpc>
            </a:pPr>
            <a:r>
              <a:rPr lang="en-US" dirty="0">
                <a:latin typeface="Times New Roman" panose="02020603050405020304" pitchFamily="18" charset="0"/>
                <a:cs typeface="Times New Roman" panose="02020603050405020304" pitchFamily="18" charset="0"/>
              </a:rPr>
              <a:t>This project aims to address these challenges by proposing a high-capacity RDH-EI method that leverages advanced techniques such as Edge-Directed Prediction (EDP) and Multi-MSB Self-Prediction. These techniques enhance the accuracy of pixel prediction and increase the available space for data embedding, ensuring both high embedding capacity and secure image recovery. Additionally, the project integrates a user authorization system with OTP verification to ensure that only authorized users can access and download the embedded data. The proposed method targets applications in cloud storage and secure communication where both data security and image integrity are crucial.</a:t>
            </a:r>
          </a:p>
        </p:txBody>
      </p:sp>
    </p:spTree>
    <p:extLst>
      <p:ext uri="{BB962C8B-B14F-4D97-AF65-F5344CB8AC3E}">
        <p14:creationId xmlns:p14="http://schemas.microsoft.com/office/powerpoint/2010/main" val="2261465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56847" y="0"/>
            <a:ext cx="3606084" cy="73866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LITERATURE SURVEY</a:t>
            </a:r>
            <a:endParaRPr lang="en-US" sz="2400" dirty="0">
              <a:latin typeface="Times New Roman" panose="02020603050405020304" pitchFamily="18" charset="0"/>
              <a:cs typeface="Times New Roman" panose="02020603050405020304" pitchFamily="18" charset="0"/>
            </a:endParaRPr>
          </a:p>
          <a:p>
            <a:endParaRPr lang="en-US" dirty="0"/>
          </a:p>
        </p:txBody>
      </p:sp>
      <p:graphicFrame>
        <p:nvGraphicFramePr>
          <p:cNvPr id="3" name="Content Placeholder 3"/>
          <p:cNvGraphicFramePr>
            <a:graphicFrameLocks/>
          </p:cNvGraphicFramePr>
          <p:nvPr>
            <p:extLst>
              <p:ext uri="{D42A27DB-BD31-4B8C-83A1-F6EECF244321}">
                <p14:modId xmlns:p14="http://schemas.microsoft.com/office/powerpoint/2010/main" val="2184271215"/>
              </p:ext>
            </p:extLst>
          </p:nvPr>
        </p:nvGraphicFramePr>
        <p:xfrm>
          <a:off x="450761" y="570738"/>
          <a:ext cx="11552349" cy="6266390"/>
        </p:xfrm>
        <a:graphic>
          <a:graphicData uri="http://schemas.openxmlformats.org/drawingml/2006/table">
            <a:tbl>
              <a:tblPr firstRow="1" bandRow="1">
                <a:tableStyleId>{5940675A-B579-460E-94D1-54222C63F5DA}</a:tableStyleId>
              </a:tblPr>
              <a:tblGrid>
                <a:gridCol w="702158">
                  <a:extLst>
                    <a:ext uri="{9D8B030D-6E8A-4147-A177-3AD203B41FA5}">
                      <a16:colId xmlns:a16="http://schemas.microsoft.com/office/drawing/2014/main" val="20000"/>
                    </a:ext>
                  </a:extLst>
                </a:gridCol>
                <a:gridCol w="2437853">
                  <a:extLst>
                    <a:ext uri="{9D8B030D-6E8A-4147-A177-3AD203B41FA5}">
                      <a16:colId xmlns:a16="http://schemas.microsoft.com/office/drawing/2014/main" val="20001"/>
                    </a:ext>
                  </a:extLst>
                </a:gridCol>
                <a:gridCol w="2563618">
                  <a:extLst>
                    <a:ext uri="{9D8B030D-6E8A-4147-A177-3AD203B41FA5}">
                      <a16:colId xmlns:a16="http://schemas.microsoft.com/office/drawing/2014/main" val="20002"/>
                    </a:ext>
                  </a:extLst>
                </a:gridCol>
                <a:gridCol w="2529186">
                  <a:extLst>
                    <a:ext uri="{9D8B030D-6E8A-4147-A177-3AD203B41FA5}">
                      <a16:colId xmlns:a16="http://schemas.microsoft.com/office/drawing/2014/main" val="20003"/>
                    </a:ext>
                  </a:extLst>
                </a:gridCol>
                <a:gridCol w="3319534">
                  <a:extLst>
                    <a:ext uri="{9D8B030D-6E8A-4147-A177-3AD203B41FA5}">
                      <a16:colId xmlns:a16="http://schemas.microsoft.com/office/drawing/2014/main" val="20004"/>
                    </a:ext>
                  </a:extLst>
                </a:gridCol>
              </a:tblGrid>
              <a:tr h="672583">
                <a:tc>
                  <a:txBody>
                    <a:bodyPr/>
                    <a:lstStyle/>
                    <a:p>
                      <a:pPr algn="ctr"/>
                      <a:r>
                        <a:rPr lang="en-US" sz="2000" b="1" dirty="0">
                          <a:latin typeface="Times New Roman" panose="02020603050405020304" pitchFamily="18" charset="0"/>
                          <a:cs typeface="Times New Roman" panose="02020603050405020304" pitchFamily="18" charset="0"/>
                        </a:rPr>
                        <a:t>S. NO</a:t>
                      </a:r>
                    </a:p>
                  </a:txBody>
                  <a:tcPr/>
                </a:tc>
                <a:tc>
                  <a:txBody>
                    <a:bodyPr/>
                    <a:lstStyle/>
                    <a:p>
                      <a:pPr algn="ctr"/>
                      <a:r>
                        <a:rPr lang="en-US" sz="2000" b="1" dirty="0">
                          <a:latin typeface="Times New Roman" panose="02020603050405020304" pitchFamily="18" charset="0"/>
                          <a:cs typeface="Times New Roman" panose="02020603050405020304" pitchFamily="18" charset="0"/>
                        </a:rPr>
                        <a:t>Journal Type </a:t>
                      </a:r>
                      <a:r>
                        <a:rPr lang="en-US" sz="2000" b="1" baseline="0" dirty="0">
                          <a:latin typeface="Times New Roman" panose="02020603050405020304" pitchFamily="18" charset="0"/>
                          <a:cs typeface="Times New Roman" panose="02020603050405020304" pitchFamily="18" charset="0"/>
                        </a:rPr>
                        <a:t>with year</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US" sz="2000" b="1" dirty="0">
                          <a:latin typeface="Times New Roman" panose="02020603050405020304" pitchFamily="18" charset="0"/>
                          <a:cs typeface="Times New Roman" panose="02020603050405020304" pitchFamily="18" charset="0"/>
                        </a:rPr>
                        <a:t>Authors</a:t>
                      </a:r>
                    </a:p>
                  </a:txBody>
                  <a:tcPr/>
                </a:tc>
                <a:tc>
                  <a:txBody>
                    <a:bodyPr/>
                    <a:lstStyle/>
                    <a:p>
                      <a:pPr algn="ctr"/>
                      <a:r>
                        <a:rPr lang="en-US" sz="2000" b="1" dirty="0">
                          <a:latin typeface="Times New Roman" panose="02020603050405020304" pitchFamily="18" charset="0"/>
                          <a:cs typeface="Times New Roman" panose="02020603050405020304" pitchFamily="18" charset="0"/>
                        </a:rPr>
                        <a:t>Title</a:t>
                      </a:r>
                    </a:p>
                  </a:txBody>
                  <a:tcPr/>
                </a:tc>
                <a:tc>
                  <a:txBody>
                    <a:bodyPr/>
                    <a:lstStyle/>
                    <a:p>
                      <a:pPr algn="ctr"/>
                      <a:r>
                        <a:rPr lang="en-US" sz="2000" b="1" dirty="0">
                          <a:latin typeface="Times New Roman" panose="02020603050405020304" pitchFamily="18" charset="0"/>
                          <a:cs typeface="Times New Roman" panose="02020603050405020304" pitchFamily="18" charset="0"/>
                        </a:rPr>
                        <a:t>Outcomes</a:t>
                      </a:r>
                    </a:p>
                  </a:txBody>
                  <a:tcPr/>
                </a:tc>
                <a:extLst>
                  <a:ext uri="{0D108BD9-81ED-4DB2-BD59-A6C34878D82A}">
                    <a16:rowId xmlns:a16="http://schemas.microsoft.com/office/drawing/2014/main" val="10000"/>
                  </a:ext>
                </a:extLst>
              </a:tr>
              <a:tr h="2456390">
                <a:tc>
                  <a:txBody>
                    <a:bodyPr/>
                    <a:lstStyle/>
                    <a:p>
                      <a:pPr algn="ctr"/>
                      <a:r>
                        <a:rPr lang="en-US" sz="2000" dirty="0">
                          <a:latin typeface="Times New Roman" panose="02020603050405020304" pitchFamily="18" charset="0"/>
                          <a:cs typeface="Times New Roman" panose="02020603050405020304" pitchFamily="18" charset="0"/>
                        </a:rPr>
                        <a:t>1</a:t>
                      </a:r>
                    </a:p>
                  </a:txBody>
                  <a:tcPr/>
                </a:tc>
                <a:tc>
                  <a:txBody>
                    <a:bodyPr/>
                    <a:lstStyle/>
                    <a:p>
                      <a:pPr algn="ctr"/>
                      <a:r>
                        <a:rPr lang="en-US" sz="1800" b="0" kern="1200" dirty="0" smtClean="0">
                          <a:solidFill>
                            <a:schemeClr val="tx1"/>
                          </a:solidFill>
                          <a:effectLst/>
                          <a:latin typeface="Times New Roman" panose="02020603050405020304" pitchFamily="18" charset="0"/>
                          <a:ea typeface="+mn-ea"/>
                          <a:cs typeface="Times New Roman" panose="02020603050405020304" pitchFamily="18" charset="0"/>
                        </a:rPr>
                        <a:t>2025</a:t>
                      </a:r>
                      <a:endParaRPr lang="en-US" sz="18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gn="ctr"/>
                      <a:r>
                        <a:rPr lang="en-US" b="0" dirty="0" smtClean="0">
                          <a:latin typeface="Times New Roman" panose="02020603050405020304" pitchFamily="18" charset="0"/>
                          <a:cs typeface="Times New Roman" panose="02020603050405020304" pitchFamily="18" charset="0"/>
                        </a:rPr>
                        <a:t>Fang Ren, </a:t>
                      </a:r>
                      <a:r>
                        <a:rPr lang="en-US" b="0" dirty="0" err="1" smtClean="0">
                          <a:latin typeface="Times New Roman" panose="02020603050405020304" pitchFamily="18" charset="0"/>
                          <a:cs typeface="Times New Roman" panose="02020603050405020304" pitchFamily="18" charset="0"/>
                        </a:rPr>
                        <a:t>Zhelin</a:t>
                      </a:r>
                      <a:r>
                        <a:rPr lang="en-US" b="0" dirty="0" smtClean="0">
                          <a:latin typeface="Times New Roman" panose="02020603050405020304" pitchFamily="18" charset="0"/>
                          <a:cs typeface="Times New Roman" panose="02020603050405020304" pitchFamily="18" charset="0"/>
                        </a:rPr>
                        <a:t> Zhang, Kai Jiang, </a:t>
                      </a:r>
                      <a:r>
                        <a:rPr lang="en-US" b="0" dirty="0" err="1" smtClean="0">
                          <a:latin typeface="Times New Roman" panose="02020603050405020304" pitchFamily="18" charset="0"/>
                          <a:cs typeface="Times New Roman" panose="02020603050405020304" pitchFamily="18" charset="0"/>
                        </a:rPr>
                        <a:t>Peiyang</a:t>
                      </a:r>
                      <a:r>
                        <a:rPr lang="en-US" b="0" dirty="0" smtClean="0">
                          <a:latin typeface="Times New Roman" panose="02020603050405020304" pitchFamily="18" charset="0"/>
                          <a:cs typeface="Times New Roman" panose="02020603050405020304" pitchFamily="18" charset="0"/>
                        </a:rPr>
                        <a:t> Zhang, </a:t>
                      </a:r>
                      <a:r>
                        <a:rPr lang="en-US" b="0" dirty="0" err="1" smtClean="0">
                          <a:latin typeface="Times New Roman" panose="02020603050405020304" pitchFamily="18" charset="0"/>
                          <a:cs typeface="Times New Roman" panose="02020603050405020304" pitchFamily="18" charset="0"/>
                        </a:rPr>
                        <a:t>Tengfei</a:t>
                      </a:r>
                      <a:r>
                        <a:rPr lang="en-US" b="0" dirty="0" smtClean="0">
                          <a:latin typeface="Times New Roman" panose="02020603050405020304" pitchFamily="18" charset="0"/>
                          <a:cs typeface="Times New Roman" panose="02020603050405020304" pitchFamily="18" charset="0"/>
                        </a:rPr>
                        <a:t> Yang</a:t>
                      </a:r>
                      <a:endParaRPr lang="en-US" sz="2000" b="0"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Reversible Data Hiding and Authentication Scheme for Encrypted Images Based on Prediction Error Compression</a:t>
                      </a:r>
                      <a:endParaRPr lang="en-US" sz="18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err="1" smtClean="0">
                          <a:solidFill>
                            <a:schemeClr val="tx1"/>
                          </a:solidFill>
                          <a:effectLst/>
                          <a:latin typeface="Times New Roman" panose="02020603050405020304" pitchFamily="18" charset="0"/>
                          <a:ea typeface="+mn-ea"/>
                          <a:cs typeface="Times New Roman" panose="02020603050405020304" pitchFamily="18" charset="0"/>
                        </a:rPr>
                        <a:t>IThis</a:t>
                      </a: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 paper proposes a scheme that combines reversible data hiding with content authentication. It utilizes a new predictor, ISGAP, to generate accurate predictions, compresses errors using adaptive Huffman coding, and embeds authentication information to ensure both data confidentiality and integrity.. </a:t>
                      </a:r>
                      <a:endParaRPr lang="en-US"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2456390">
                <a:tc>
                  <a:txBody>
                    <a:bodyPr/>
                    <a:lstStyle/>
                    <a:p>
                      <a:pPr algn="ctr"/>
                      <a:r>
                        <a:rPr lang="en-US" sz="2000" dirty="0">
                          <a:latin typeface="Times New Roman" panose="02020603050405020304" pitchFamily="18" charset="0"/>
                          <a:cs typeface="Times New Roman" panose="02020603050405020304" pitchFamily="18" charset="0"/>
                        </a:rPr>
                        <a:t>2</a:t>
                      </a:r>
                    </a:p>
                  </a:txBody>
                  <a:tcPr/>
                </a:tc>
                <a:tc>
                  <a:txBody>
                    <a:bodyPr/>
                    <a:lstStyle/>
                    <a:p>
                      <a:pPr algn="ctr"/>
                      <a:r>
                        <a:rPr lang="en-US" sz="1800" b="0" kern="1200" dirty="0" smtClean="0">
                          <a:solidFill>
                            <a:schemeClr val="tx1"/>
                          </a:solidFill>
                          <a:effectLst/>
                          <a:latin typeface="Times New Roman" panose="02020603050405020304" pitchFamily="18" charset="0"/>
                          <a:ea typeface="+mn-ea"/>
                          <a:cs typeface="Times New Roman" panose="02020603050405020304" pitchFamily="18" charset="0"/>
                        </a:rPr>
                        <a:t>2021</a:t>
                      </a:r>
                      <a:endParaRPr lang="en-IN" sz="18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gn="ctr"/>
                      <a:r>
                        <a:rPr lang="en-US" sz="1800" b="0" kern="1200" dirty="0" smtClean="0">
                          <a:solidFill>
                            <a:schemeClr val="tx1"/>
                          </a:solidFill>
                          <a:effectLst/>
                          <a:latin typeface="Times New Roman" panose="02020603050405020304" pitchFamily="18" charset="0"/>
                          <a:ea typeface="+mn-ea"/>
                          <a:cs typeface="Times New Roman" panose="02020603050405020304" pitchFamily="18" charset="0"/>
                        </a:rPr>
                        <a:t>Pauline </a:t>
                      </a:r>
                      <a:r>
                        <a:rPr lang="en-US" sz="1800" b="0" kern="1200" dirty="0" err="1" smtClean="0">
                          <a:solidFill>
                            <a:schemeClr val="tx1"/>
                          </a:solidFill>
                          <a:effectLst/>
                          <a:latin typeface="Times New Roman" panose="02020603050405020304" pitchFamily="18" charset="0"/>
                          <a:ea typeface="+mn-ea"/>
                          <a:cs typeface="Times New Roman" panose="02020603050405020304" pitchFamily="18" charset="0"/>
                        </a:rPr>
                        <a:t>Puteaux</a:t>
                      </a:r>
                      <a:r>
                        <a:rPr lang="en-US" sz="1800" b="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800" b="0" kern="1200" dirty="0" err="1" smtClean="0">
                          <a:solidFill>
                            <a:schemeClr val="tx1"/>
                          </a:solidFill>
                          <a:effectLst/>
                          <a:latin typeface="Times New Roman" panose="02020603050405020304" pitchFamily="18" charset="0"/>
                          <a:ea typeface="+mn-ea"/>
                          <a:cs typeface="Times New Roman" panose="02020603050405020304" pitchFamily="18" charset="0"/>
                        </a:rPr>
                        <a:t>Simying</a:t>
                      </a:r>
                      <a:r>
                        <a:rPr lang="en-US" sz="1800" b="0" kern="1200" dirty="0" smtClean="0">
                          <a:solidFill>
                            <a:schemeClr val="tx1"/>
                          </a:solidFill>
                          <a:effectLst/>
                          <a:latin typeface="Times New Roman" panose="02020603050405020304" pitchFamily="18" charset="0"/>
                          <a:ea typeface="+mn-ea"/>
                          <a:cs typeface="Times New Roman" panose="02020603050405020304" pitchFamily="18" charset="0"/>
                        </a:rPr>
                        <a:t> Ong, </a:t>
                      </a:r>
                      <a:r>
                        <a:rPr lang="en-US" sz="1800" b="0" kern="1200" dirty="0" err="1" smtClean="0">
                          <a:solidFill>
                            <a:schemeClr val="tx1"/>
                          </a:solidFill>
                          <a:effectLst/>
                          <a:latin typeface="Times New Roman" panose="02020603050405020304" pitchFamily="18" charset="0"/>
                          <a:ea typeface="+mn-ea"/>
                          <a:cs typeface="Times New Roman" panose="02020603050405020304" pitchFamily="18" charset="0"/>
                        </a:rPr>
                        <a:t>Koksheik</a:t>
                      </a:r>
                      <a:r>
                        <a:rPr lang="en-US" sz="1800" b="0" kern="1200" dirty="0" smtClean="0">
                          <a:solidFill>
                            <a:schemeClr val="tx1"/>
                          </a:solidFill>
                          <a:effectLst/>
                          <a:latin typeface="Times New Roman" panose="02020603050405020304" pitchFamily="18" charset="0"/>
                          <a:ea typeface="+mn-ea"/>
                          <a:cs typeface="Times New Roman" panose="02020603050405020304" pitchFamily="18" charset="0"/>
                        </a:rPr>
                        <a:t> Wong, William </a:t>
                      </a:r>
                      <a:r>
                        <a:rPr lang="en-US" sz="1800" b="0" kern="1200" dirty="0" err="1" smtClean="0">
                          <a:solidFill>
                            <a:schemeClr val="tx1"/>
                          </a:solidFill>
                          <a:effectLst/>
                          <a:latin typeface="Times New Roman" panose="02020603050405020304" pitchFamily="18" charset="0"/>
                          <a:ea typeface="+mn-ea"/>
                          <a:cs typeface="Times New Roman" panose="02020603050405020304" pitchFamily="18" charset="0"/>
                        </a:rPr>
                        <a:t>Puech</a:t>
                      </a:r>
                      <a:endParaRPr lang="en-US" sz="18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gn="ctr"/>
                      <a:r>
                        <a:rPr lang="en-US" sz="1800" b="0" kern="1200" dirty="0" smtClean="0">
                          <a:solidFill>
                            <a:schemeClr val="tx1"/>
                          </a:solidFill>
                          <a:effectLst/>
                          <a:latin typeface="Times New Roman" panose="02020603050405020304" pitchFamily="18" charset="0"/>
                          <a:ea typeface="+mn-ea"/>
                          <a:cs typeface="Times New Roman" panose="02020603050405020304" pitchFamily="18" charset="0"/>
                        </a:rPr>
                        <a:t>A Survey of Reversible Data Hiding in Encrypted Images</a:t>
                      </a:r>
                      <a:endParaRPr lang="en-US" sz="18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This comprehensive survey reviews the evolution of RDH-EI over the past 12 years, categorizing various techniques and highlighting significant methods that balance embedding capacity, security, and image quality</a:t>
                      </a:r>
                      <a:endParaRPr lang="en-IN" sz="18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92985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509311" y="121868"/>
            <a:ext cx="4816207" cy="1140262"/>
          </a:xfrm>
          <a:prstGeom prst="rect">
            <a:avLst/>
          </a:prstGeom>
        </p:spPr>
        <p:txBody>
          <a:bodyPr>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3600" b="1" smtClean="0">
                <a:latin typeface="Times New Roman" panose="02020603050405020304" pitchFamily="18" charset="0"/>
                <a:cs typeface="Times New Roman" panose="02020603050405020304" pitchFamily="18" charset="0"/>
              </a:rPr>
              <a:t>EXISTING METHOD</a:t>
            </a:r>
            <a:r>
              <a:rPr lang="en-US" altLang="en-US" sz="3600" b="1" smtClean="0">
                <a:latin typeface="Times New Roman" panose="02020603050405020304" pitchFamily="18" charset="0"/>
                <a:cs typeface="Times New Roman" panose="02020603050405020304" pitchFamily="18" charset="0"/>
              </a:rPr>
              <a:t/>
            </a:r>
            <a:br>
              <a:rPr lang="en-US" altLang="en-US" sz="3600" b="1" smtClean="0">
                <a:latin typeface="Times New Roman" panose="02020603050405020304" pitchFamily="18" charset="0"/>
                <a:cs typeface="Times New Roman" panose="02020603050405020304" pitchFamily="18" charset="0"/>
              </a:rPr>
            </a:br>
            <a:endParaRPr lang="en-US" sz="3600" b="1" dirty="0">
              <a:latin typeface="Times New Roman" pitchFamily="18" charset="0"/>
              <a:cs typeface="Times New Roman" pitchFamily="18" charset="0"/>
            </a:endParaRPr>
          </a:p>
        </p:txBody>
      </p:sp>
      <p:sp>
        <p:nvSpPr>
          <p:cNvPr id="3" name="Rectangle 2"/>
          <p:cNvSpPr/>
          <p:nvPr/>
        </p:nvSpPr>
        <p:spPr>
          <a:xfrm>
            <a:off x="1386623" y="1262130"/>
            <a:ext cx="9328597" cy="3785652"/>
          </a:xfrm>
          <a:prstGeom prst="rect">
            <a:avLst/>
          </a:prstGeom>
        </p:spPr>
        <p:txBody>
          <a:bodyPr wrap="square">
            <a:spAutoFit/>
          </a:bodyPr>
          <a:lstStyle/>
          <a:p>
            <a:pPr algn="just">
              <a:lnSpc>
                <a:spcPct val="150000"/>
              </a:lnSpc>
            </a:pPr>
            <a:r>
              <a:rPr lang="en-US" sz="2000" dirty="0">
                <a:latin typeface="Times New Roman" panose="02020603050405020304" pitchFamily="18" charset="0"/>
                <a:ea typeface="Calibri" panose="020F0502020204030204" pitchFamily="34" charset="0"/>
              </a:rPr>
              <a:t>Existing Reversible Data Hiding in Encrypted Images (RDH-EI) systems primarily focus on embedding data into encrypted images while ensuring the original image can be accurately restored. However, these methods often face limitations in embedding capacity due to the loss of spatial redundancy after encryption. Techniques like Least Significant Bit (LSB) prediction and prediction-error expansion, though widely used, struggle to balance high embedding capacity with image quality and security. These methods also lack robust user authorization systems, leading to potential security risks, and often require substantial computational resources for data embedding and recovery.</a:t>
            </a:r>
            <a:endParaRPr lang="en-US" sz="2000" dirty="0"/>
          </a:p>
        </p:txBody>
      </p:sp>
    </p:spTree>
    <p:extLst>
      <p:ext uri="{BB962C8B-B14F-4D97-AF65-F5344CB8AC3E}">
        <p14:creationId xmlns:p14="http://schemas.microsoft.com/office/powerpoint/2010/main" val="204271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265579" y="100818"/>
            <a:ext cx="5562600" cy="787824"/>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600" b="1" smtClean="0">
                <a:latin typeface="Times New Roman" panose="02020603050405020304" pitchFamily="18" charset="0"/>
                <a:cs typeface="Times New Roman" panose="02020603050405020304" pitchFamily="18" charset="0"/>
              </a:rPr>
              <a:t>DISADVANTAGES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txBox="1">
            <a:spLocks/>
          </p:cNvSpPr>
          <p:nvPr/>
        </p:nvSpPr>
        <p:spPr>
          <a:xfrm>
            <a:off x="950797" y="1683982"/>
            <a:ext cx="8718720" cy="3854969"/>
          </a:xfrm>
          <a:prstGeom prst="rect">
            <a:avLst/>
          </a:prstGeom>
        </p:spPr>
        <p:txBody>
          <a:bodyPr vert="horz" lIns="91440" tIns="45720" rIns="91440" bIns="45720" rtlCol="0">
            <a:normAutofit fontScale="2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0" algn="just">
              <a:lnSpc>
                <a:spcPct val="150000"/>
              </a:lnSpc>
            </a:pPr>
            <a:r>
              <a:rPr lang="en-US" sz="6400" dirty="0" smtClean="0">
                <a:solidFill>
                  <a:schemeClr val="tx1"/>
                </a:solidFill>
                <a:latin typeface="Times New Roman" panose="02020603050405020304" pitchFamily="18" charset="0"/>
                <a:cs typeface="Times New Roman" panose="02020603050405020304" pitchFamily="18" charset="0"/>
              </a:rPr>
              <a:t>Limited </a:t>
            </a:r>
            <a:r>
              <a:rPr lang="en-US" sz="6400" dirty="0">
                <a:solidFill>
                  <a:schemeClr val="tx1"/>
                </a:solidFill>
                <a:latin typeface="Times New Roman" panose="02020603050405020304" pitchFamily="18" charset="0"/>
                <a:cs typeface="Times New Roman" panose="02020603050405020304" pitchFamily="18" charset="0"/>
              </a:rPr>
              <a:t>embedding capacity due to the loss of spatial redundancy after encryption.</a:t>
            </a:r>
          </a:p>
          <a:p>
            <a:pPr lvl="0" algn="just">
              <a:lnSpc>
                <a:spcPct val="150000"/>
              </a:lnSpc>
            </a:pPr>
            <a:r>
              <a:rPr lang="en-US" sz="6400" dirty="0">
                <a:solidFill>
                  <a:schemeClr val="tx1"/>
                </a:solidFill>
                <a:latin typeface="Times New Roman" panose="02020603050405020304" pitchFamily="18" charset="0"/>
                <a:cs typeface="Times New Roman" panose="02020603050405020304" pitchFamily="18" charset="0"/>
              </a:rPr>
              <a:t>	</a:t>
            </a:r>
            <a:r>
              <a:rPr lang="en-US" sz="6400" dirty="0" smtClean="0">
                <a:solidFill>
                  <a:schemeClr val="tx1"/>
                </a:solidFill>
                <a:latin typeface="Times New Roman" panose="02020603050405020304" pitchFamily="18" charset="0"/>
                <a:cs typeface="Times New Roman" panose="02020603050405020304" pitchFamily="18" charset="0"/>
              </a:rPr>
              <a:t>Inability </a:t>
            </a:r>
            <a:r>
              <a:rPr lang="en-US" sz="6400" dirty="0">
                <a:solidFill>
                  <a:schemeClr val="tx1"/>
                </a:solidFill>
                <a:latin typeface="Times New Roman" panose="02020603050405020304" pitchFamily="18" charset="0"/>
                <a:cs typeface="Times New Roman" panose="02020603050405020304" pitchFamily="18" charset="0"/>
              </a:rPr>
              <a:t>to maintain high image quality while embedding large amounts of data.</a:t>
            </a:r>
          </a:p>
          <a:p>
            <a:pPr lvl="0" algn="just">
              <a:lnSpc>
                <a:spcPct val="150000"/>
              </a:lnSpc>
            </a:pPr>
            <a:r>
              <a:rPr lang="en-US" sz="6400" dirty="0" smtClean="0">
                <a:solidFill>
                  <a:schemeClr val="tx1"/>
                </a:solidFill>
                <a:latin typeface="Times New Roman" panose="02020603050405020304" pitchFamily="18" charset="0"/>
                <a:cs typeface="Times New Roman" panose="02020603050405020304" pitchFamily="18" charset="0"/>
              </a:rPr>
              <a:t>Lack </a:t>
            </a:r>
            <a:r>
              <a:rPr lang="en-US" sz="6400" dirty="0">
                <a:solidFill>
                  <a:schemeClr val="tx1"/>
                </a:solidFill>
                <a:latin typeface="Times New Roman" panose="02020603050405020304" pitchFamily="18" charset="0"/>
                <a:cs typeface="Times New Roman" panose="02020603050405020304" pitchFamily="18" charset="0"/>
              </a:rPr>
              <a:t>of robust user authorization systems, leading to potential unauthorized access.</a:t>
            </a:r>
          </a:p>
          <a:p>
            <a:pPr lvl="0" algn="just">
              <a:lnSpc>
                <a:spcPct val="150000"/>
              </a:lnSpc>
            </a:pPr>
            <a:r>
              <a:rPr lang="en-US" sz="6400" dirty="0" smtClean="0">
                <a:solidFill>
                  <a:schemeClr val="tx1"/>
                </a:solidFill>
                <a:latin typeface="Times New Roman" panose="02020603050405020304" pitchFamily="18" charset="0"/>
                <a:cs typeface="Times New Roman" panose="02020603050405020304" pitchFamily="18" charset="0"/>
              </a:rPr>
              <a:t>High </a:t>
            </a:r>
            <a:r>
              <a:rPr lang="en-US" sz="6400" dirty="0">
                <a:solidFill>
                  <a:schemeClr val="tx1"/>
                </a:solidFill>
                <a:latin typeface="Times New Roman" panose="02020603050405020304" pitchFamily="18" charset="0"/>
                <a:cs typeface="Times New Roman" panose="02020603050405020304" pitchFamily="18" charset="0"/>
              </a:rPr>
              <a:t>computational complexity for data embedding and image recovery.</a:t>
            </a:r>
          </a:p>
          <a:p>
            <a:pPr lvl="0" algn="just">
              <a:lnSpc>
                <a:spcPct val="150000"/>
              </a:lnSpc>
            </a:pPr>
            <a:r>
              <a:rPr lang="en-US" sz="6400" dirty="0" smtClean="0">
                <a:solidFill>
                  <a:schemeClr val="tx1"/>
                </a:solidFill>
                <a:latin typeface="Times New Roman" panose="02020603050405020304" pitchFamily="18" charset="0"/>
                <a:cs typeface="Times New Roman" panose="02020603050405020304" pitchFamily="18" charset="0"/>
              </a:rPr>
              <a:t>Security </a:t>
            </a:r>
            <a:r>
              <a:rPr lang="en-US" sz="6400" dirty="0">
                <a:solidFill>
                  <a:schemeClr val="tx1"/>
                </a:solidFill>
                <a:latin typeface="Times New Roman" panose="02020603050405020304" pitchFamily="18" charset="0"/>
                <a:cs typeface="Times New Roman" panose="02020603050405020304" pitchFamily="18" charset="0"/>
              </a:rPr>
              <a:t>vulnerabilities in data extraction and recovery processes.</a:t>
            </a:r>
          </a:p>
        </p:txBody>
      </p:sp>
    </p:spTree>
    <p:extLst>
      <p:ext uri="{BB962C8B-B14F-4D97-AF65-F5344CB8AC3E}">
        <p14:creationId xmlns:p14="http://schemas.microsoft.com/office/powerpoint/2010/main" val="3043384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864878" y="183469"/>
            <a:ext cx="6279315" cy="789559"/>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600" b="1" smtClean="0">
                <a:latin typeface="Times New Roman" panose="02020603050405020304" pitchFamily="18" charset="0"/>
                <a:cs typeface="Times New Roman" panose="02020603050405020304" pitchFamily="18" charset="0"/>
              </a:rPr>
              <a:t>PROPOSED SYSTEM</a:t>
            </a:r>
            <a:endParaRPr lang="en-IN" sz="36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320809" y="1292279"/>
            <a:ext cx="7959660" cy="3787383"/>
          </a:xfrm>
          <a:prstGeom prst="rect">
            <a:avLst/>
          </a:prstGeom>
        </p:spPr>
        <p:txBody>
          <a:bodyPr wrap="square">
            <a:spAutoFit/>
          </a:bodyPr>
          <a:lstStyle/>
          <a:p>
            <a:pPr algn="just">
              <a:lnSpc>
                <a:spcPct val="150000"/>
              </a:lnSpc>
              <a:spcBef>
                <a:spcPts val="1200"/>
              </a:spcBef>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proposed system aims to enhance existing RDH-EI methods by using advanced techniques like Edge-Directed Prediction (EDP) and Multi-MSB Self-Prediction, which improve pixel prediction accuracy and increase the embedding capacity. Additionally, it integrates a user authorization system with OTP verification to ensure that only authorized users can access and download the embedded data, further securing the data. The proposed system ensures a higher embedding rate, improved image recovery, and enhanced security, making it more suitable for cloud storage and secure communication applications where both data integrity and confidentiality are essential.</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750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20881" y="319759"/>
            <a:ext cx="5562600" cy="659998"/>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sz="3600" b="1" dirty="0" smtClean="0">
                <a:latin typeface="Times New Roman" panose="02020603050405020304" pitchFamily="18" charset="0"/>
                <a:cs typeface="Times New Roman" panose="02020603050405020304" pitchFamily="18" charset="0"/>
              </a:rPr>
              <a:t>ADVANTAGES</a:t>
            </a:r>
            <a:endParaRPr lang="en-IN"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077531" y="1975662"/>
            <a:ext cx="9485365" cy="2585323"/>
          </a:xfrm>
          <a:prstGeom prst="rect">
            <a:avLst/>
          </a:prstGeom>
        </p:spPr>
        <p:txBody>
          <a:bodyPr wrap="square">
            <a:spAutoFit/>
          </a:bodyPr>
          <a:lstStyle/>
          <a:p>
            <a:pPr marL="342900" marR="0" lvl="0" indent="-342900" algn="just">
              <a:lnSpc>
                <a:spcPct val="150000"/>
              </a:lnSpc>
              <a:spcBef>
                <a:spcPts val="0"/>
              </a:spcBef>
              <a:spcAft>
                <a:spcPts val="0"/>
              </a:spcAft>
              <a:buFont typeface="+mj-lt"/>
              <a:buAutoNum type="arabicPeriod"/>
            </a:pPr>
            <a:r>
              <a:rPr lang="en-US" dirty="0" smtClean="0">
                <a:latin typeface="Times New Roman" panose="02020603050405020304" pitchFamily="18" charset="0"/>
                <a:ea typeface="Calibri" panose="020F0502020204030204" pitchFamily="34" charset="0"/>
                <a:cs typeface="Times New Roman" panose="02020603050405020304" pitchFamily="18" charset="0"/>
              </a:rPr>
              <a:t>Improved </a:t>
            </a:r>
            <a:r>
              <a:rPr lang="en-US" dirty="0">
                <a:latin typeface="Times New Roman" panose="02020603050405020304" pitchFamily="18" charset="0"/>
                <a:ea typeface="Calibri" panose="020F0502020204030204" pitchFamily="34" charset="0"/>
                <a:cs typeface="Times New Roman" panose="02020603050405020304" pitchFamily="18" charset="0"/>
              </a:rPr>
              <a:t>embedding capacity using Edge-Directed Prediction (EDP) and Multi-MSB Self-Prediction.</a:t>
            </a:r>
          </a:p>
          <a:p>
            <a:pPr marL="342900" marR="0" lvl="0" indent="-342900" algn="just">
              <a:lnSpc>
                <a:spcPct val="150000"/>
              </a:lnSpc>
              <a:spcBef>
                <a:spcPts val="0"/>
              </a:spcBef>
              <a:spcAft>
                <a:spcPts val="0"/>
              </a:spcAft>
              <a:buFont typeface="+mj-lt"/>
              <a:buAutoNum type="arabicPeriod"/>
            </a:pPr>
            <a:r>
              <a:rPr lang="en-US" dirty="0" smtClean="0">
                <a:latin typeface="Times New Roman" panose="02020603050405020304" pitchFamily="18" charset="0"/>
                <a:ea typeface="Calibri" panose="020F0502020204030204" pitchFamily="34" charset="0"/>
                <a:cs typeface="Times New Roman" panose="02020603050405020304" pitchFamily="18" charset="0"/>
              </a:rPr>
              <a:t>Secure </a:t>
            </a:r>
            <a:r>
              <a:rPr lang="en-US" dirty="0">
                <a:latin typeface="Times New Roman" panose="02020603050405020304" pitchFamily="18" charset="0"/>
                <a:ea typeface="Calibri" panose="020F0502020204030204" pitchFamily="34" charset="0"/>
                <a:cs typeface="Times New Roman" panose="02020603050405020304" pitchFamily="18" charset="0"/>
              </a:rPr>
              <a:t>data embedding with lossless image recovery.</a:t>
            </a:r>
          </a:p>
          <a:p>
            <a:pPr marL="342900" marR="0" lvl="0" indent="-342900" algn="just">
              <a:lnSpc>
                <a:spcPct val="150000"/>
              </a:lnSpc>
              <a:spcBef>
                <a:spcPts val="0"/>
              </a:spcBef>
              <a:spcAft>
                <a:spcPts val="0"/>
              </a:spcAft>
              <a:buFont typeface="+mj-lt"/>
              <a:buAutoNum type="arabicPeriod"/>
            </a:pPr>
            <a:r>
              <a:rPr lang="en-US" dirty="0" smtClean="0">
                <a:latin typeface="Times New Roman" panose="02020603050405020304" pitchFamily="18" charset="0"/>
                <a:ea typeface="Calibri" panose="020F0502020204030204" pitchFamily="34" charset="0"/>
                <a:cs typeface="Times New Roman" panose="02020603050405020304" pitchFamily="18" charset="0"/>
              </a:rPr>
              <a:t>Integration </a:t>
            </a:r>
            <a:r>
              <a:rPr lang="en-US" dirty="0">
                <a:latin typeface="Times New Roman" panose="02020603050405020304" pitchFamily="18" charset="0"/>
                <a:ea typeface="Calibri" panose="020F0502020204030204" pitchFamily="34" charset="0"/>
                <a:cs typeface="Times New Roman" panose="02020603050405020304" pitchFamily="18" charset="0"/>
              </a:rPr>
              <a:t>of a user authorization system with OTP verification for enhanced security.</a:t>
            </a:r>
          </a:p>
          <a:p>
            <a:pPr marL="342900" marR="0" lvl="0" indent="-342900" algn="just">
              <a:lnSpc>
                <a:spcPct val="150000"/>
              </a:lnSpc>
              <a:spcBef>
                <a:spcPts val="0"/>
              </a:spcBef>
              <a:spcAft>
                <a:spcPts val="0"/>
              </a:spcAft>
              <a:buFont typeface="+mj-lt"/>
              <a:buAutoNum type="arabicPeriod"/>
            </a:pPr>
            <a:r>
              <a:rPr lang="en-US" dirty="0" smtClean="0">
                <a:latin typeface="Times New Roman" panose="02020603050405020304" pitchFamily="18" charset="0"/>
                <a:ea typeface="Calibri" panose="020F0502020204030204" pitchFamily="34" charset="0"/>
                <a:cs typeface="Times New Roman" panose="02020603050405020304" pitchFamily="18" charset="0"/>
              </a:rPr>
              <a:t>Higher </a:t>
            </a:r>
            <a:r>
              <a:rPr lang="en-US" dirty="0">
                <a:latin typeface="Times New Roman" panose="02020603050405020304" pitchFamily="18" charset="0"/>
                <a:ea typeface="Calibri" panose="020F0502020204030204" pitchFamily="34" charset="0"/>
                <a:cs typeface="Times New Roman" panose="02020603050405020304" pitchFamily="18" charset="0"/>
              </a:rPr>
              <a:t>accuracy in pixel prediction, ensuring better image quality.</a:t>
            </a:r>
          </a:p>
          <a:p>
            <a:pPr marL="342900" marR="0" lvl="0" indent="-342900" algn="just">
              <a:lnSpc>
                <a:spcPct val="150000"/>
              </a:lnSpc>
              <a:spcBef>
                <a:spcPts val="0"/>
              </a:spcBef>
              <a:spcAft>
                <a:spcPts val="0"/>
              </a:spcAft>
              <a:buFont typeface="+mj-lt"/>
              <a:buAutoNum type="arabicPeriod"/>
            </a:pPr>
            <a:r>
              <a:rPr lang="en-US" dirty="0" smtClean="0">
                <a:latin typeface="Times New Roman" panose="02020603050405020304" pitchFamily="18" charset="0"/>
                <a:ea typeface="Calibri" panose="020F0502020204030204" pitchFamily="34" charset="0"/>
                <a:cs typeface="Times New Roman" panose="02020603050405020304" pitchFamily="18" charset="0"/>
              </a:rPr>
              <a:t>More </a:t>
            </a:r>
            <a:r>
              <a:rPr lang="en-US" dirty="0">
                <a:latin typeface="Times New Roman" panose="02020603050405020304" pitchFamily="18" charset="0"/>
                <a:ea typeface="Calibri" panose="020F0502020204030204" pitchFamily="34" charset="0"/>
                <a:cs typeface="Times New Roman" panose="02020603050405020304" pitchFamily="18" charset="0"/>
              </a:rPr>
              <a:t>efficient and secure for applications in cloud storage and encrypted communication.</a:t>
            </a:r>
          </a:p>
        </p:txBody>
      </p:sp>
    </p:spTree>
    <p:extLst>
      <p:ext uri="{BB962C8B-B14F-4D97-AF65-F5344CB8AC3E}">
        <p14:creationId xmlns:p14="http://schemas.microsoft.com/office/powerpoint/2010/main" val="1304830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9516" y="179495"/>
            <a:ext cx="4645293" cy="1061476"/>
          </a:xfrm>
        </p:spPr>
        <p:txBody>
          <a:bodyPr>
            <a:noAutofit/>
          </a:bodyPr>
          <a:lstStyle/>
          <a:p>
            <a:pPr lvl="1" algn="l" defTabSz="457200" rtl="0">
              <a:spcBef>
                <a:spcPct val="0"/>
              </a:spcBef>
            </a:pPr>
            <a:r>
              <a:rPr lang="en-US" sz="3600" b="1" dirty="0">
                <a:solidFill>
                  <a:schemeClr val="tx1"/>
                </a:solidFill>
                <a:latin typeface="Times New Roman" panose="02020603050405020304" pitchFamily="18" charset="0"/>
                <a:cs typeface="Times New Roman" panose="02020603050405020304" pitchFamily="18" charset="0"/>
              </a:rPr>
              <a:t>IMPLEMENTATION</a:t>
            </a:r>
            <a:r>
              <a:rPr lang="en-IN" sz="3600" dirty="0">
                <a:solidFill>
                  <a:schemeClr val="tx1"/>
                </a:solidFill>
              </a:rPr>
              <a:t/>
            </a:r>
            <a:br>
              <a:rPr lang="en-IN" sz="3600" dirty="0">
                <a:solidFill>
                  <a:schemeClr val="tx1"/>
                </a:solidFill>
              </a:rPr>
            </a:br>
            <a:endParaRPr lang="en-IN" sz="3600" dirty="0">
              <a:solidFill>
                <a:schemeClr val="tx1"/>
              </a:solidFill>
            </a:endParaRPr>
          </a:p>
        </p:txBody>
      </p:sp>
      <p:sp>
        <p:nvSpPr>
          <p:cNvPr id="3" name="Rectangle 2"/>
          <p:cNvSpPr/>
          <p:nvPr/>
        </p:nvSpPr>
        <p:spPr>
          <a:xfrm>
            <a:off x="399394" y="851638"/>
            <a:ext cx="11435254" cy="5509200"/>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User Module</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Functionality:</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Manages user registration, login, and profile management.</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Users can view, update their profile, and track their activities.</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Allows users to upload encrypted grayscale images (if data owners) and request data (if data users).</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Handles unauthorized access checks and allows only authorized users to perform specific actions based on admin approval.</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Admin Module</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Functionality:</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Admin is responsible for logging in and viewing a list of users.</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Admin can approve or deny user access, marking them as authorized or unauthorized.</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Manages the overall system security by controlling user permissions.</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File Upload Module (Data Owner)</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Functionality:</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Data owners can upload grayscale images and other relevant data.</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The files are encrypted using the RDH-EI method before being stored.</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Ensures that both the image and associated data are securely encrypted, preserving confidentiality.</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0512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9516" y="179495"/>
            <a:ext cx="4645293" cy="1061476"/>
          </a:xfrm>
        </p:spPr>
        <p:txBody>
          <a:bodyPr>
            <a:noAutofit/>
          </a:bodyPr>
          <a:lstStyle/>
          <a:p>
            <a:pPr lvl="1" algn="l" defTabSz="457200" rtl="0">
              <a:spcBef>
                <a:spcPct val="0"/>
              </a:spcBef>
            </a:pPr>
            <a:r>
              <a:rPr lang="en-US" sz="3600" b="1" dirty="0">
                <a:solidFill>
                  <a:schemeClr val="tx1"/>
                </a:solidFill>
                <a:latin typeface="Times New Roman" panose="02020603050405020304" pitchFamily="18" charset="0"/>
                <a:cs typeface="Times New Roman" panose="02020603050405020304" pitchFamily="18" charset="0"/>
              </a:rPr>
              <a:t>IMPLEMENTATION</a:t>
            </a:r>
            <a:r>
              <a:rPr lang="en-IN" sz="3600" dirty="0">
                <a:solidFill>
                  <a:schemeClr val="tx1"/>
                </a:solidFill>
              </a:rPr>
              <a:t/>
            </a:r>
            <a:br>
              <a:rPr lang="en-IN" sz="3600" dirty="0">
                <a:solidFill>
                  <a:schemeClr val="tx1"/>
                </a:solidFill>
              </a:rPr>
            </a:br>
            <a:endParaRPr lang="en-IN" sz="3600" dirty="0">
              <a:solidFill>
                <a:schemeClr val="tx1"/>
              </a:solidFill>
            </a:endParaRPr>
          </a:p>
        </p:txBody>
      </p:sp>
      <p:sp>
        <p:nvSpPr>
          <p:cNvPr id="4" name="Rectangle 3"/>
          <p:cNvSpPr/>
          <p:nvPr/>
        </p:nvSpPr>
        <p:spPr>
          <a:xfrm>
            <a:off x="441434" y="710233"/>
            <a:ext cx="11277599" cy="5262979"/>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File Request Module (Data User)</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Functionality:</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Data users can browse available images and make requests for specific files.</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Requests are sent to the data owner for review and approval.</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Enables data users to select which image or both image and text they wish to download.</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Request Approval and OTP Verification Module</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Functionality:</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Data owners review file requests from data users.</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After approving a request, an OTP is sent to the data user's email.</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Ensures that data users can only access requested files after OTP verification.</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Data Embedding and Encryption Module</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Functionality:</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Embeds additional data securely into the encrypted image using Edge-Directed Prediction (EDP) and Multi-MSB Self-Prediction.</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Ensures high embedding capacity while maintaining the ability to perfectly recover the original image.</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Uses encryption techniques to secure the data embedding process</a:t>
            </a:r>
            <a:r>
              <a:rPr lang="en-US" sz="1600" dirty="0" smtClean="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1921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9516" y="179495"/>
            <a:ext cx="4645293" cy="1061476"/>
          </a:xfrm>
        </p:spPr>
        <p:txBody>
          <a:bodyPr>
            <a:noAutofit/>
          </a:bodyPr>
          <a:lstStyle/>
          <a:p>
            <a:pPr lvl="1" algn="l" defTabSz="457200" rtl="0">
              <a:spcBef>
                <a:spcPct val="0"/>
              </a:spcBef>
            </a:pPr>
            <a:r>
              <a:rPr lang="en-US" sz="3600" b="1" dirty="0">
                <a:solidFill>
                  <a:schemeClr val="tx1"/>
                </a:solidFill>
                <a:latin typeface="Times New Roman" panose="02020603050405020304" pitchFamily="18" charset="0"/>
                <a:cs typeface="Times New Roman" panose="02020603050405020304" pitchFamily="18" charset="0"/>
              </a:rPr>
              <a:t>IMPLEMENTATION</a:t>
            </a:r>
            <a:r>
              <a:rPr lang="en-IN" sz="3600" dirty="0">
                <a:solidFill>
                  <a:schemeClr val="tx1"/>
                </a:solidFill>
              </a:rPr>
              <a:t/>
            </a:r>
            <a:br>
              <a:rPr lang="en-IN" sz="3600" dirty="0">
                <a:solidFill>
                  <a:schemeClr val="tx1"/>
                </a:solidFill>
              </a:rPr>
            </a:br>
            <a:endParaRPr lang="en-IN" sz="3600" dirty="0">
              <a:solidFill>
                <a:schemeClr val="tx1"/>
              </a:solidFill>
            </a:endParaRPr>
          </a:p>
        </p:txBody>
      </p:sp>
      <p:sp>
        <p:nvSpPr>
          <p:cNvPr id="4" name="Rectangle 3"/>
          <p:cNvSpPr/>
          <p:nvPr/>
        </p:nvSpPr>
        <p:spPr>
          <a:xfrm>
            <a:off x="1737360" y="2009480"/>
            <a:ext cx="8203474" cy="3693319"/>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Data Extraction and Image Recovery Module</a:t>
            </a: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Functionality:</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Enables authorized users to extract embedded data and restore the original image.</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Only users with proper decryption keys can access the hidden data or recover the original image.</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Ensures the integrity of both the embedded data and the recovered image.</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OTP Verification for File Download Module</a:t>
            </a: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Functionality:</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Verifies the OTP entered by the data user before allowing file downloads.</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Ensures that only the authorized data user can download the requested file.</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Provides a secure method of file access by checking the OTP validity.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145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952342" y="133082"/>
            <a:ext cx="8596668" cy="132080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3600" b="1" dirty="0">
                <a:latin typeface="Times New Roman" panose="02020603050405020304" pitchFamily="18" charset="0"/>
                <a:cs typeface="Times New Roman" panose="02020603050405020304" pitchFamily="18" charset="0"/>
              </a:rPr>
              <a:t>PROJECT FLOW</a:t>
            </a:r>
            <a:endParaRPr lang="en-US" sz="36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4038600" y="342900"/>
            <a:ext cx="4114800" cy="6172200"/>
          </a:xfrm>
          <a:prstGeom prst="rect">
            <a:avLst/>
          </a:prstGeom>
        </p:spPr>
      </p:pic>
    </p:spTree>
    <p:extLst>
      <p:ext uri="{BB962C8B-B14F-4D97-AF65-F5344CB8AC3E}">
        <p14:creationId xmlns:p14="http://schemas.microsoft.com/office/powerpoint/2010/main" val="1154704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p:cNvSpPr txBox="1">
            <a:spLocks/>
          </p:cNvSpPr>
          <p:nvPr/>
        </p:nvSpPr>
        <p:spPr>
          <a:xfrm>
            <a:off x="991673" y="128789"/>
            <a:ext cx="9737641" cy="132080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dirty="0" smtClean="0">
                <a:latin typeface="Times New Roman" pitchFamily="18" charset="0"/>
                <a:cs typeface="Times New Roman" pitchFamily="18" charset="0"/>
              </a:rPr>
              <a:t>           </a:t>
            </a:r>
            <a:r>
              <a:rPr lang="en-US" sz="3600" dirty="0" smtClean="0">
                <a:latin typeface="Times New Roman" pitchFamily="18" charset="0"/>
                <a:cs typeface="Times New Roman" pitchFamily="18" charset="0"/>
              </a:rPr>
              <a:t>HARDWARE &amp; SOFTWARE </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                 REQUIREMENTS </a:t>
            </a:r>
            <a:endParaRPr lang="en-US" sz="3600" dirty="0"/>
          </a:p>
        </p:txBody>
      </p:sp>
      <p:sp>
        <p:nvSpPr>
          <p:cNvPr id="3" name="Rectangle 2"/>
          <p:cNvSpPr/>
          <p:nvPr/>
        </p:nvSpPr>
        <p:spPr>
          <a:xfrm>
            <a:off x="1232079" y="2042017"/>
            <a:ext cx="7448281" cy="3616375"/>
          </a:xfrm>
          <a:prstGeom prst="rect">
            <a:avLst/>
          </a:prstGeom>
        </p:spPr>
        <p:txBody>
          <a:bodyPr wrap="square">
            <a:spAutoFit/>
          </a:bodyPr>
          <a:lstStyle/>
          <a:p>
            <a:pPr algn="just">
              <a:lnSpc>
                <a:spcPct val="150000"/>
              </a:lnSpc>
              <a:spcBef>
                <a:spcPts val="1200"/>
              </a:spcBef>
            </a:pPr>
            <a:r>
              <a:rPr lang="en-IN"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H/W CONFIGURATION:</a:t>
            </a:r>
            <a:endParaRPr lang="en-US" sz="2400" b="1" kern="0"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IN"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Processor			- I3/Intel Processor</a:t>
            </a:r>
            <a:endParaRPr lang="en-US" sz="2400" b="1" kern="0" dirty="0" smtClean="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Hard Disk			-160GB</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1200"/>
              </a:spcBef>
              <a:spcAft>
                <a:spcPts val="0"/>
              </a:spcAft>
              <a:buFont typeface="Symbol" panose="05050102010706020507" pitchFamily="18" charset="2"/>
              <a:buChar char=""/>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1200"/>
              </a:spcBef>
              <a:spcAft>
                <a:spcPts val="0"/>
              </a:spcAft>
              <a:buFont typeface="Symbol" panose="05050102010706020507" pitchFamily="18" charset="2"/>
              <a:buChar char=""/>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Mouse			</a:t>
            </a:r>
            <a:r>
              <a:rPr lang="en-US"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Two or Three Button Mouse</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1200"/>
              </a:spcBef>
              <a:spcAft>
                <a:spcPts val="0"/>
              </a:spcAft>
              <a:buFont typeface="Symbol" panose="05050102010706020507" pitchFamily="18" charset="2"/>
              <a:buChar char=""/>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Monitor			- SVGA</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1200"/>
              </a:spcBef>
              <a:spcAft>
                <a:spcPts val="0"/>
              </a:spcAft>
              <a:buFont typeface="Symbol" panose="05050102010706020507" pitchFamily="18" charset="2"/>
              <a:buChar char=""/>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RAM				-  4Gb</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0051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p:cNvSpPr txBox="1">
            <a:spLocks/>
          </p:cNvSpPr>
          <p:nvPr/>
        </p:nvSpPr>
        <p:spPr>
          <a:xfrm>
            <a:off x="991673" y="128789"/>
            <a:ext cx="9737641" cy="132080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dirty="0" smtClean="0">
                <a:latin typeface="Times New Roman" pitchFamily="18" charset="0"/>
                <a:cs typeface="Times New Roman" pitchFamily="18" charset="0"/>
              </a:rPr>
              <a:t>           </a:t>
            </a:r>
            <a:r>
              <a:rPr lang="en-US" sz="3600" dirty="0" smtClean="0">
                <a:latin typeface="Times New Roman" pitchFamily="18" charset="0"/>
                <a:cs typeface="Times New Roman" pitchFamily="18" charset="0"/>
              </a:rPr>
              <a:t>HARDWARE &amp; SOFTWARE </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                 REQUIREMENTS </a:t>
            </a:r>
            <a:endParaRPr lang="en-US" sz="3600" dirty="0"/>
          </a:p>
        </p:txBody>
      </p:sp>
      <p:sp>
        <p:nvSpPr>
          <p:cNvPr id="3" name="Rectangle 2"/>
          <p:cNvSpPr/>
          <p:nvPr/>
        </p:nvSpPr>
        <p:spPr>
          <a:xfrm>
            <a:off x="991673" y="2245500"/>
            <a:ext cx="9405871" cy="2585323"/>
          </a:xfrm>
          <a:prstGeom prst="rect">
            <a:avLst/>
          </a:prstGeom>
        </p:spPr>
        <p:txBody>
          <a:bodyPr wrap="square">
            <a:spAutoFit/>
          </a:bodyPr>
          <a:lstStyle/>
          <a:p>
            <a:pPr algn="just">
              <a:lnSpc>
                <a:spcPct val="150000"/>
              </a:lnSpc>
              <a:spcBef>
                <a:spcPts val="1200"/>
              </a:spcBef>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S/W CONFIGURATION:</a:t>
            </a:r>
            <a:endParaRPr lang="en-US"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Operating System			: Windows 7/8/10</a:t>
            </a:r>
            <a:endPar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Server side Script			</a:t>
            </a: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:Python, HTML</a:t>
            </a: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MYSQL</a:t>
            </a: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CSS, Bootstrap.</a:t>
            </a:r>
            <a:endPar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Libraries				: Django, </a:t>
            </a:r>
            <a:r>
              <a:rPr lang="en-US"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Smtlib,Numpy</a:t>
            </a:r>
            <a:endPar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IDE					:   </a:t>
            </a: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VS code</a:t>
            </a:r>
            <a:endPar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50000"/>
              </a:lnSpc>
              <a:spcBef>
                <a:spcPts val="0"/>
              </a:spcBef>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Technology				:  Python 3.10+</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4444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solidFill>
                  <a:schemeClr val="tx1"/>
                </a:solidFill>
                <a:latin typeface="Times New Roman" panose="02020603050405020304" pitchFamily="18" charset="0"/>
                <a:cs typeface="Times New Roman" panose="02020603050405020304" pitchFamily="18" charset="0"/>
              </a:rPr>
              <a:t>Functional Requirements</a:t>
            </a:r>
            <a:r>
              <a:rPr lang="en-US" sz="2000" dirty="0">
                <a:solidFill>
                  <a:schemeClr val="tx1"/>
                </a:solidFill>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 FUNCTIONAL AND NON-FUNCTIONAL REQUIREMENTS</a:t>
            </a:r>
            <a:endParaRPr lang="en-US" sz="3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475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solidFill>
                  <a:schemeClr val="tx1"/>
                </a:solidFill>
                <a:latin typeface="Times New Roman" panose="02020603050405020304" pitchFamily="18" charset="0"/>
                <a:cs typeface="Times New Roman" panose="02020603050405020304" pitchFamily="18" charset="0"/>
              </a:rPr>
              <a:t>Non-functional requirements</a:t>
            </a:r>
            <a:r>
              <a:rPr lang="en-US" sz="2000" dirty="0">
                <a:solidFill>
                  <a:schemeClr val="tx1"/>
                </a:solidFill>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solidFill>
                  <a:schemeClr val="tx1"/>
                </a:solidFill>
                <a:latin typeface="Times New Roman" panose="02020603050405020304" pitchFamily="18" charset="0"/>
                <a:cs typeface="Times New Roman" panose="02020603050405020304" pitchFamily="18" charset="0"/>
              </a:rPr>
            </a:b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 FUNCTIONAL AND NON-FUNCTIONAL REQUIREMENTS</a:t>
            </a:r>
            <a:endParaRPr lang="en-US" sz="3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5612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952342" y="133082"/>
            <a:ext cx="8596668" cy="132080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mtClean="0">
                <a:latin typeface="Times New Roman" panose="02020603050405020304" pitchFamily="18" charset="0"/>
                <a:cs typeface="Times New Roman" panose="02020603050405020304" pitchFamily="18" charset="0"/>
              </a:rPr>
              <a:t>ARCHITECTURE</a:t>
            </a:r>
            <a:endParaRPr lang="en-US" dirty="0"/>
          </a:p>
        </p:txBody>
      </p:sp>
      <p:pic>
        <p:nvPicPr>
          <p:cNvPr id="5" name="Picture 4"/>
          <p:cNvPicPr/>
          <p:nvPr/>
        </p:nvPicPr>
        <p:blipFill>
          <a:blip r:embed="rId2"/>
          <a:stretch>
            <a:fillRect/>
          </a:stretch>
        </p:blipFill>
        <p:spPr>
          <a:xfrm>
            <a:off x="3124200" y="2112962"/>
            <a:ext cx="5943600" cy="2632075"/>
          </a:xfrm>
          <a:prstGeom prst="rect">
            <a:avLst/>
          </a:prstGeom>
        </p:spPr>
      </p:pic>
    </p:spTree>
    <p:extLst>
      <p:ext uri="{BB962C8B-B14F-4D97-AF65-F5344CB8AC3E}">
        <p14:creationId xmlns:p14="http://schemas.microsoft.com/office/powerpoint/2010/main" val="1635246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274313" y="171719"/>
            <a:ext cx="8596668" cy="107753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mtClean="0">
                <a:latin typeface="Times New Roman" panose="02020603050405020304" pitchFamily="18" charset="0"/>
                <a:cs typeface="Times New Roman" panose="02020603050405020304" pitchFamily="18" charset="0"/>
              </a:rPr>
              <a:t>UML DIAGRAMS</a:t>
            </a:r>
            <a:endParaRPr lang="en-US" dirty="0"/>
          </a:p>
        </p:txBody>
      </p:sp>
      <p:sp>
        <p:nvSpPr>
          <p:cNvPr id="3" name="Content Placeholder 2"/>
          <p:cNvSpPr txBox="1">
            <a:spLocks/>
          </p:cNvSpPr>
          <p:nvPr/>
        </p:nvSpPr>
        <p:spPr>
          <a:xfrm>
            <a:off x="1166731" y="1413615"/>
            <a:ext cx="9857584" cy="4446273"/>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18872" indent="0" algn="just">
              <a:lnSpc>
                <a:spcPct val="150000"/>
              </a:lnSpc>
              <a:buFont typeface="Calibri" panose="020F0502020204030204" pitchFamily="34" charset="0"/>
              <a:buNone/>
            </a:pPr>
            <a:r>
              <a:rPr lang="en-US" b="1" smtClean="0">
                <a:latin typeface="Times New Roman" pitchFamily="18" charset="0"/>
                <a:cs typeface="Times New Roman" pitchFamily="18" charset="0"/>
              </a:rPr>
              <a:t>USE CASE DIAGRAM:</a:t>
            </a:r>
            <a:endParaRPr lang="en-US" smtClean="0">
              <a:latin typeface="Times New Roman" pitchFamily="18" charset="0"/>
              <a:cs typeface="Times New Roman" pitchFamily="18" charset="0"/>
            </a:endParaRPr>
          </a:p>
          <a:p>
            <a:pPr algn="just">
              <a:lnSpc>
                <a:spcPct val="150000"/>
              </a:lnSpc>
            </a:pPr>
            <a:r>
              <a:rPr lang="en-US" smtClean="0">
                <a:latin typeface="Times New Roman" pitchFamily="18" charset="0"/>
                <a:cs typeface="Times New Roman"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a:p>
            <a:endParaRPr lang="en-US" dirty="0"/>
          </a:p>
        </p:txBody>
      </p:sp>
    </p:spTree>
    <p:extLst>
      <p:ext uri="{BB962C8B-B14F-4D97-AF65-F5344CB8AC3E}">
        <p14:creationId xmlns:p14="http://schemas.microsoft.com/office/powerpoint/2010/main" val="522074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3124200" y="1371600"/>
            <a:ext cx="5943600" cy="4114800"/>
          </a:xfrm>
          <a:prstGeom prst="rect">
            <a:avLst/>
          </a:prstGeom>
        </p:spPr>
      </p:pic>
    </p:spTree>
    <p:extLst>
      <p:ext uri="{BB962C8B-B14F-4D97-AF65-F5344CB8AC3E}">
        <p14:creationId xmlns:p14="http://schemas.microsoft.com/office/powerpoint/2010/main" val="1337932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231124" y="0"/>
            <a:ext cx="9921979" cy="3232597"/>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lnSpc>
                <a:spcPct val="150000"/>
              </a:lnSpc>
              <a:buFont typeface="Calibri" panose="020F0502020204030204" pitchFamily="34" charset="0"/>
              <a:buNone/>
            </a:pPr>
            <a:r>
              <a:rPr lang="en-US" sz="2400" b="1" dirty="0" smtClean="0">
                <a:latin typeface="Times New Roman" pitchFamily="18" charset="0"/>
                <a:cs typeface="Times New Roman" pitchFamily="18" charset="0"/>
              </a:rPr>
              <a:t>CLASS DIAGRAM:</a:t>
            </a:r>
            <a:endParaRPr lang="en-US" dirty="0" smtClean="0">
              <a:latin typeface="Times New Roman" pitchFamily="18" charset="0"/>
              <a:cs typeface="Times New Roman" pitchFamily="18" charset="0"/>
            </a:endParaRPr>
          </a:p>
          <a:p>
            <a:pPr algn="just">
              <a:lnSpc>
                <a:spcPct val="150000"/>
              </a:lnSpc>
            </a:pPr>
            <a:r>
              <a:rPr lang="en-US" dirty="0" smtClean="0">
                <a:latin typeface="Times New Roman" pitchFamily="18" charset="0"/>
                <a:cs typeface="Times New Roman"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 </a:t>
            </a:r>
          </a:p>
          <a:p>
            <a:endParaRPr lang="en-US" dirty="0" smtClean="0"/>
          </a:p>
          <a:p>
            <a:endParaRPr lang="en-US" dirty="0"/>
          </a:p>
        </p:txBody>
      </p:sp>
      <p:pic>
        <p:nvPicPr>
          <p:cNvPr id="5" name="Picture 4"/>
          <p:cNvPicPr/>
          <p:nvPr/>
        </p:nvPicPr>
        <p:blipFill>
          <a:blip r:embed="rId2"/>
          <a:stretch>
            <a:fillRect/>
          </a:stretch>
        </p:blipFill>
        <p:spPr>
          <a:xfrm>
            <a:off x="3220313" y="2423663"/>
            <a:ext cx="5943600" cy="3145790"/>
          </a:xfrm>
          <a:prstGeom prst="rect">
            <a:avLst/>
          </a:prstGeom>
        </p:spPr>
      </p:pic>
    </p:spTree>
    <p:extLst>
      <p:ext uri="{BB962C8B-B14F-4D97-AF65-F5344CB8AC3E}">
        <p14:creationId xmlns:p14="http://schemas.microsoft.com/office/powerpoint/2010/main" val="3873345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43187" y="25758"/>
            <a:ext cx="10315978" cy="2884868"/>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18872" indent="0" algn="ctr">
              <a:lnSpc>
                <a:spcPct val="150000"/>
              </a:lnSpc>
              <a:buFont typeface="Calibri" panose="020F0502020204030204" pitchFamily="34" charset="0"/>
              <a:buNone/>
            </a:pPr>
            <a:r>
              <a:rPr lang="en-US" sz="2400" b="1" dirty="0" smtClean="0">
                <a:latin typeface="Times New Roman" pitchFamily="18" charset="0"/>
                <a:cs typeface="Times New Roman" pitchFamily="18" charset="0"/>
              </a:rPr>
              <a:t>SEQUENCE DIAGRAM:</a:t>
            </a:r>
          </a:p>
          <a:p>
            <a:pPr marL="118872" indent="0" algn="ctr">
              <a:lnSpc>
                <a:spcPct val="150000"/>
              </a:lnSpc>
              <a:buFont typeface="Calibri" panose="020F0502020204030204" pitchFamily="34" charset="0"/>
              <a:buNone/>
            </a:pPr>
            <a:endParaRPr lang="en-US" sz="2400" b="1" dirty="0">
              <a:latin typeface="Times New Roman" pitchFamily="18" charset="0"/>
              <a:cs typeface="Times New Roman" pitchFamily="18" charset="0"/>
            </a:endParaRPr>
          </a:p>
          <a:p>
            <a:pPr marL="118872" indent="0" algn="ctr">
              <a:lnSpc>
                <a:spcPct val="150000"/>
              </a:lnSpc>
              <a:buFont typeface="Calibri" panose="020F0502020204030204" pitchFamily="34" charset="0"/>
              <a:buNone/>
            </a:pPr>
            <a:endParaRPr lang="en-US" sz="2400" dirty="0" smtClean="0">
              <a:latin typeface="Times New Roman" pitchFamily="18" charset="0"/>
              <a:cs typeface="Times New Roman" pitchFamily="18" charset="0"/>
            </a:endParaRPr>
          </a:p>
          <a:p>
            <a:pPr algn="just">
              <a:lnSpc>
                <a:spcPct val="150000"/>
              </a:lnSpc>
            </a:pPr>
            <a:r>
              <a:rPr lang="en-US" dirty="0" smtClean="0">
                <a:latin typeface="Times New Roman" pitchFamily="18" charset="0"/>
                <a:cs typeface="Times New Roman" pitchFamily="18" charset="0"/>
              </a:rPr>
              <a:t>A sequence diagram in Unified Modeling Language (UML) is a kind of interaction diagram that shows how processes operate with one another and in what order. It is a construct of a Message Sequence Chart. Sequence diagrams are sometimes called event diagrams, event scenarios, and timing diagrams.</a:t>
            </a:r>
          </a:p>
          <a:p>
            <a:endParaRPr lang="en-US" dirty="0"/>
          </a:p>
        </p:txBody>
      </p:sp>
    </p:spTree>
    <p:extLst>
      <p:ext uri="{BB962C8B-B14F-4D97-AF65-F5344CB8AC3E}">
        <p14:creationId xmlns:p14="http://schemas.microsoft.com/office/powerpoint/2010/main" val="14801206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3781425" y="914400"/>
            <a:ext cx="4629150" cy="5029200"/>
          </a:xfrm>
          <a:prstGeom prst="rect">
            <a:avLst/>
          </a:prstGeom>
        </p:spPr>
      </p:pic>
    </p:spTree>
    <p:extLst>
      <p:ext uri="{BB962C8B-B14F-4D97-AF65-F5344CB8AC3E}">
        <p14:creationId xmlns:p14="http://schemas.microsoft.com/office/powerpoint/2010/main" val="3872191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094704" y="25758"/>
            <a:ext cx="10238704" cy="342578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18872" indent="0" algn="ctr">
              <a:lnSpc>
                <a:spcPct val="150000"/>
              </a:lnSpc>
              <a:buFont typeface="Calibri" panose="020F0502020204030204" pitchFamily="34" charset="0"/>
              <a:buNone/>
            </a:pPr>
            <a:r>
              <a:rPr lang="en-US" sz="2400" b="1" dirty="0" smtClean="0">
                <a:latin typeface="Times New Roman" pitchFamily="18" charset="0"/>
                <a:cs typeface="Times New Roman" pitchFamily="18" charset="0"/>
              </a:rPr>
              <a:t>Collaboration Diagram:</a:t>
            </a:r>
            <a:endParaRPr lang="en-US" sz="2400" dirty="0" smtClean="0">
              <a:latin typeface="Times New Roman" pitchFamily="18" charset="0"/>
              <a:cs typeface="Times New Roman" pitchFamily="18" charset="0"/>
            </a:endParaRPr>
          </a:p>
          <a:p>
            <a:pPr algn="just">
              <a:lnSpc>
                <a:spcPct val="150000"/>
              </a:lnSpc>
            </a:pPr>
            <a:r>
              <a:rPr lang="en-IN" dirty="0" smtClean="0">
                <a:latin typeface="Times New Roman" pitchFamily="18" charset="0"/>
                <a:cs typeface="Times New Roman"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US" dirty="0" smtClean="0">
              <a:latin typeface="Times New Roman" pitchFamily="18" charset="0"/>
              <a:cs typeface="Times New Roman" pitchFamily="18" charset="0"/>
            </a:endParaRPr>
          </a:p>
          <a:p>
            <a:endParaRPr lang="en-US" dirty="0"/>
          </a:p>
        </p:txBody>
      </p:sp>
      <p:pic>
        <p:nvPicPr>
          <p:cNvPr id="5" name="Picture 4"/>
          <p:cNvPicPr/>
          <p:nvPr/>
        </p:nvPicPr>
        <p:blipFill>
          <a:blip r:embed="rId2"/>
          <a:stretch>
            <a:fillRect/>
          </a:stretch>
        </p:blipFill>
        <p:spPr>
          <a:xfrm>
            <a:off x="4499556" y="3278406"/>
            <a:ext cx="3429000" cy="3206476"/>
          </a:xfrm>
          <a:prstGeom prst="rect">
            <a:avLst/>
          </a:prstGeom>
        </p:spPr>
      </p:pic>
    </p:spTree>
    <p:extLst>
      <p:ext uri="{BB962C8B-B14F-4D97-AF65-F5344CB8AC3E}">
        <p14:creationId xmlns:p14="http://schemas.microsoft.com/office/powerpoint/2010/main" val="721659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734096" y="164364"/>
            <a:ext cx="10483402" cy="278489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18872" indent="0" algn="ctr">
              <a:lnSpc>
                <a:spcPct val="150000"/>
              </a:lnSpc>
              <a:buFont typeface="Calibri" panose="020F0502020204030204" pitchFamily="34" charset="0"/>
              <a:buNone/>
            </a:pPr>
            <a:r>
              <a:rPr lang="en-US" b="1" smtClean="0">
                <a:latin typeface="Times New Roman" pitchFamily="18" charset="0"/>
                <a:cs typeface="Times New Roman" pitchFamily="18" charset="0"/>
              </a:rPr>
              <a:t>DEPLOYMENT DIAGRAM</a:t>
            </a:r>
            <a:endParaRPr lang="en-US" smtClean="0">
              <a:latin typeface="Times New Roman" pitchFamily="18" charset="0"/>
              <a:cs typeface="Times New Roman" pitchFamily="18" charset="0"/>
            </a:endParaRPr>
          </a:p>
          <a:p>
            <a:pPr algn="just">
              <a:lnSpc>
                <a:spcPct val="150000"/>
              </a:lnSpc>
            </a:pPr>
            <a:r>
              <a:rPr lang="en-US" smtClean="0">
                <a:latin typeface="Times New Roman" pitchFamily="18" charset="0"/>
                <a:cs typeface="Times New Roman"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a:p>
            <a:endParaRPr lang="en-US" dirty="0"/>
          </a:p>
        </p:txBody>
      </p:sp>
      <p:pic>
        <p:nvPicPr>
          <p:cNvPr id="5" name="Picture 4"/>
          <p:cNvPicPr/>
          <p:nvPr/>
        </p:nvPicPr>
        <p:blipFill>
          <a:blip r:embed="rId2"/>
          <a:stretch>
            <a:fillRect/>
          </a:stretch>
        </p:blipFill>
        <p:spPr>
          <a:xfrm>
            <a:off x="3124200" y="2612390"/>
            <a:ext cx="5943600" cy="1633220"/>
          </a:xfrm>
          <a:prstGeom prst="rect">
            <a:avLst/>
          </a:prstGeom>
        </p:spPr>
      </p:pic>
    </p:spTree>
    <p:extLst>
      <p:ext uri="{BB962C8B-B14F-4D97-AF65-F5344CB8AC3E}">
        <p14:creationId xmlns:p14="http://schemas.microsoft.com/office/powerpoint/2010/main" val="26125035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398551" y="396183"/>
            <a:ext cx="9368188" cy="3880773"/>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18872" indent="0" algn="ctr">
              <a:lnSpc>
                <a:spcPct val="150000"/>
              </a:lnSpc>
              <a:buFont typeface="Calibri" panose="020F0502020204030204" pitchFamily="34" charset="0"/>
              <a:buNone/>
            </a:pPr>
            <a:r>
              <a:rPr lang="en-US" b="1" smtClean="0">
                <a:latin typeface="Times New Roman" pitchFamily="18" charset="0"/>
                <a:cs typeface="Times New Roman" pitchFamily="18" charset="0"/>
              </a:rPr>
              <a:t>ACTIVITY DIAGRAM:</a:t>
            </a:r>
            <a:endParaRPr lang="en-US" smtClean="0">
              <a:latin typeface="Times New Roman" pitchFamily="18" charset="0"/>
              <a:cs typeface="Times New Roman" pitchFamily="18" charset="0"/>
            </a:endParaRPr>
          </a:p>
          <a:p>
            <a:pPr algn="just">
              <a:lnSpc>
                <a:spcPct val="150000"/>
              </a:lnSpc>
            </a:pPr>
            <a:r>
              <a:rPr lang="en-US" smtClean="0">
                <a:latin typeface="Times New Roman" pitchFamily="18" charset="0"/>
                <a:cs typeface="Times New Roman" pitchFamily="18" charset="0"/>
              </a:rPr>
              <a:t>Activity diagrams are graphical representations of workflows of stepwise activities and actions with support for choice, iteration and concurrency. In the Unified Modeling Language, activity diagrams can be used to describe the business and operational step-by-step workflows of components in a system. An activity diagram shows the overall flow of control.</a:t>
            </a:r>
          </a:p>
          <a:p>
            <a:endParaRPr lang="en-US" dirty="0"/>
          </a:p>
        </p:txBody>
      </p:sp>
    </p:spTree>
    <p:extLst>
      <p:ext uri="{BB962C8B-B14F-4D97-AF65-F5344CB8AC3E}">
        <p14:creationId xmlns:p14="http://schemas.microsoft.com/office/powerpoint/2010/main" val="29582209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4182295" y="827361"/>
            <a:ext cx="3743325" cy="5581650"/>
          </a:xfrm>
          <a:prstGeom prst="rect">
            <a:avLst/>
          </a:prstGeom>
        </p:spPr>
      </p:pic>
    </p:spTree>
    <p:extLst>
      <p:ext uri="{BB962C8B-B14F-4D97-AF65-F5344CB8AC3E}">
        <p14:creationId xmlns:p14="http://schemas.microsoft.com/office/powerpoint/2010/main" val="4168024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986426" y="0"/>
            <a:ext cx="9947738" cy="3026535"/>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18872" indent="0" algn="ctr">
              <a:lnSpc>
                <a:spcPct val="150000"/>
              </a:lnSpc>
              <a:buFont typeface="Calibri" panose="020F0502020204030204" pitchFamily="34" charset="0"/>
              <a:buNone/>
            </a:pPr>
            <a:r>
              <a:rPr lang="en-US" b="1" dirty="0" smtClean="0">
                <a:latin typeface="Times New Roman" pitchFamily="18" charset="0"/>
                <a:cs typeface="Times New Roman" pitchFamily="18" charset="0"/>
              </a:rPr>
              <a:t>Component diagram</a:t>
            </a:r>
            <a:r>
              <a:rPr lang="en-US" dirty="0" smtClean="0">
                <a:latin typeface="Times New Roman" pitchFamily="18" charset="0"/>
                <a:cs typeface="Times New Roman" pitchFamily="18" charset="0"/>
              </a:rPr>
              <a:t>:</a:t>
            </a:r>
          </a:p>
          <a:p>
            <a:pPr algn="just">
              <a:lnSpc>
                <a:spcPct val="150000"/>
              </a:lnSpc>
            </a:pPr>
            <a:r>
              <a:rPr lang="en-US" dirty="0" smtClean="0">
                <a:latin typeface="Times New Roman" pitchFamily="18" charset="0"/>
                <a:cs typeface="Times New Roman" pitchFamily="18" charset="0"/>
              </a:rPr>
              <a:t>A component diagram, also known as a UML component diagram, describes the organization and wiring of the physical </a:t>
            </a:r>
            <a:r>
              <a:rPr lang="en-US" b="1" dirty="0" smtClean="0">
                <a:latin typeface="Times New Roman" pitchFamily="18" charset="0"/>
                <a:cs typeface="Times New Roman" pitchFamily="18" charset="0"/>
              </a:rPr>
              <a:t>c</a:t>
            </a:r>
            <a:r>
              <a:rPr lang="en-US" dirty="0" smtClean="0">
                <a:latin typeface="Times New Roman" pitchFamily="18" charset="0"/>
                <a:cs typeface="Times New Roman" pitchFamily="18" charset="0"/>
              </a:rPr>
              <a:t>omponents in a system. Component diagrams are often drawn to help model implementation details and double-check that every aspect of the system's required functions is covered by</a:t>
            </a:r>
            <a:endParaRPr lang="en-US" dirty="0"/>
          </a:p>
        </p:txBody>
      </p:sp>
      <p:pic>
        <p:nvPicPr>
          <p:cNvPr id="5" name="Picture 4"/>
          <p:cNvPicPr/>
          <p:nvPr/>
        </p:nvPicPr>
        <p:blipFill>
          <a:blip r:embed="rId2"/>
          <a:stretch>
            <a:fillRect/>
          </a:stretch>
        </p:blipFill>
        <p:spPr>
          <a:xfrm>
            <a:off x="3124200" y="3327181"/>
            <a:ext cx="5943600" cy="1485900"/>
          </a:xfrm>
          <a:prstGeom prst="rect">
            <a:avLst/>
          </a:prstGeom>
        </p:spPr>
      </p:pic>
    </p:spTree>
    <p:extLst>
      <p:ext uri="{BB962C8B-B14F-4D97-AF65-F5344CB8AC3E}">
        <p14:creationId xmlns:p14="http://schemas.microsoft.com/office/powerpoint/2010/main" val="36865864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965221" y="0"/>
            <a:ext cx="8596668" cy="77273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600" b="1" dirty="0" smtClean="0">
                <a:latin typeface="Times New Roman" pitchFamily="18" charset="0"/>
                <a:cs typeface="Times New Roman" pitchFamily="18" charset="0"/>
              </a:rPr>
              <a:t>                    ER DIAGRAM</a:t>
            </a:r>
            <a:endParaRPr lang="en-US" sz="3600" b="1" dirty="0"/>
          </a:p>
        </p:txBody>
      </p:sp>
      <p:sp>
        <p:nvSpPr>
          <p:cNvPr id="3" name="Rectangle 2"/>
          <p:cNvSpPr/>
          <p:nvPr/>
        </p:nvSpPr>
        <p:spPr>
          <a:xfrm>
            <a:off x="1386884" y="1128207"/>
            <a:ext cx="9585915" cy="3600986"/>
          </a:xfrm>
          <a:prstGeom prst="rect">
            <a:avLst/>
          </a:prstGeom>
        </p:spPr>
        <p:txBody>
          <a:bodyPr wrap="square">
            <a:spAutoFit/>
          </a:bodyPr>
          <a:lstStyle/>
          <a:p>
            <a:pPr algn="just">
              <a:lnSpc>
                <a:spcPct val="150000"/>
              </a:lnSpc>
            </a:pPr>
            <a:r>
              <a:rPr lang="en-IN" sz="2000" dirty="0">
                <a:latin typeface="Times New Roman" pitchFamily="18" charset="0"/>
                <a:cs typeface="Times New Roman" pitchFamily="18" charset="0"/>
              </a:rPr>
              <a:t>An Entity–relationship model (ER model) describes the structure of a database with the help of a diagram, which is known as Entity Relationship Diagram (ER Diagram). </a:t>
            </a:r>
          </a:p>
          <a:p>
            <a:pPr algn="just">
              <a:lnSpc>
                <a:spcPct val="150000"/>
              </a:lnSpc>
            </a:pPr>
            <a:r>
              <a:rPr lang="en-IN" sz="2000" dirty="0">
                <a:latin typeface="Times New Roman" pitchFamily="18" charset="0"/>
                <a:cs typeface="Times New Roman" pitchFamily="18" charset="0"/>
              </a:rPr>
              <a:t>An ER diagram shows the relationship among entity sets. An entity set is a group of similar entities and these entities can have attributes. </a:t>
            </a:r>
          </a:p>
          <a:p>
            <a:pPr algn="just">
              <a:lnSpc>
                <a:spcPct val="150000"/>
              </a:lnSpc>
            </a:pPr>
            <a:r>
              <a:rPr lang="en-IN" sz="2000" dirty="0">
                <a:latin typeface="Times New Roman" pitchFamily="18" charset="0"/>
                <a:cs typeface="Times New Roman" pitchFamily="18" charset="0"/>
              </a:rPr>
              <a:t>In terms of DBMS, an entity is a table or attribute of a table in database, so by showing relationship among tables and their attributes, ER diagram shows the complete logical structure of a database. </a:t>
            </a:r>
          </a:p>
          <a:p>
            <a:endParaRPr lang="en-IN" dirty="0"/>
          </a:p>
        </p:txBody>
      </p:sp>
    </p:spTree>
    <p:extLst>
      <p:ext uri="{BB962C8B-B14F-4D97-AF65-F5344CB8AC3E}">
        <p14:creationId xmlns:p14="http://schemas.microsoft.com/office/powerpoint/2010/main" val="1982033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3124200" y="2301557"/>
            <a:ext cx="5943600" cy="2254885"/>
          </a:xfrm>
          <a:prstGeom prst="rect">
            <a:avLst/>
          </a:prstGeom>
        </p:spPr>
      </p:pic>
    </p:spTree>
    <p:extLst>
      <p:ext uri="{BB962C8B-B14F-4D97-AF65-F5344CB8AC3E}">
        <p14:creationId xmlns:p14="http://schemas.microsoft.com/office/powerpoint/2010/main" val="1126347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2752" y="127647"/>
            <a:ext cx="3557384" cy="646331"/>
          </a:xfrm>
          <a:prstGeom prst="rect">
            <a:avLst/>
          </a:prstGeom>
        </p:spPr>
        <p:txBody>
          <a:bodyPr wrap="none">
            <a:spAutoFit/>
          </a:bodyPr>
          <a:lstStyle/>
          <a:p>
            <a:r>
              <a:rPr lang="en-US" sz="3600" b="1" dirty="0">
                <a:solidFill>
                  <a:srgbClr val="000000"/>
                </a:solidFill>
                <a:latin typeface="Times New Roman" panose="02020603050405020304" pitchFamily="18" charset="0"/>
                <a:ea typeface="Calibri" panose="020F0502020204030204" pitchFamily="34" charset="0"/>
              </a:rPr>
              <a:t>DFD DIAGRAM</a:t>
            </a:r>
            <a:endParaRPr lang="en-US" sz="3600" dirty="0"/>
          </a:p>
        </p:txBody>
      </p:sp>
      <p:sp>
        <p:nvSpPr>
          <p:cNvPr id="3" name="Rectangle 2"/>
          <p:cNvSpPr/>
          <p:nvPr/>
        </p:nvSpPr>
        <p:spPr>
          <a:xfrm>
            <a:off x="1463898" y="1277897"/>
            <a:ext cx="9354355" cy="3785652"/>
          </a:xfrm>
          <a:prstGeom prst="rect">
            <a:avLst/>
          </a:prstGeom>
        </p:spPr>
        <p:txBody>
          <a:bodyPr wrap="square">
            <a:spAutoFit/>
          </a:bodyPr>
          <a:lstStyle/>
          <a:p>
            <a:pPr algn="just">
              <a:lnSpc>
                <a:spcPct val="150000"/>
              </a:lnSpc>
              <a:spcAft>
                <a:spcPts val="800"/>
              </a:spcAft>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309943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7606" y="264460"/>
            <a:ext cx="1903085" cy="507831"/>
          </a:xfrm>
          <a:prstGeom prst="rect">
            <a:avLst/>
          </a:prstGeom>
        </p:spPr>
        <p:txBody>
          <a:bodyPr wrap="none">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Level </a:t>
            </a:r>
            <a:r>
              <a:rPr lang="en-US" b="1"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0 </a:t>
            </a: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Diagram:</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2"/>
          <a:stretch>
            <a:fillRect/>
          </a:stretch>
        </p:blipFill>
        <p:spPr>
          <a:xfrm>
            <a:off x="3124200" y="2873375"/>
            <a:ext cx="5943600" cy="1111250"/>
          </a:xfrm>
          <a:prstGeom prst="rect">
            <a:avLst/>
          </a:prstGeom>
        </p:spPr>
      </p:pic>
    </p:spTree>
    <p:extLst>
      <p:ext uri="{BB962C8B-B14F-4D97-AF65-F5344CB8AC3E}">
        <p14:creationId xmlns:p14="http://schemas.microsoft.com/office/powerpoint/2010/main" val="1350957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7606" y="264460"/>
            <a:ext cx="1903085" cy="507831"/>
          </a:xfrm>
          <a:prstGeom prst="rect">
            <a:avLst/>
          </a:prstGeom>
        </p:spPr>
        <p:txBody>
          <a:bodyPr wrap="none">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Level 1</a:t>
            </a:r>
            <a:r>
              <a:rPr lang="en-US" b="1"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Diagram:</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p:nvPr/>
        </p:nvPicPr>
        <p:blipFill>
          <a:blip r:embed="rId2"/>
          <a:stretch>
            <a:fillRect/>
          </a:stretch>
        </p:blipFill>
        <p:spPr>
          <a:xfrm>
            <a:off x="3124200" y="1483995"/>
            <a:ext cx="5943600" cy="3890010"/>
          </a:xfrm>
          <a:prstGeom prst="rect">
            <a:avLst/>
          </a:prstGeom>
        </p:spPr>
      </p:pic>
    </p:spTree>
    <p:extLst>
      <p:ext uri="{BB962C8B-B14F-4D97-AF65-F5344CB8AC3E}">
        <p14:creationId xmlns:p14="http://schemas.microsoft.com/office/powerpoint/2010/main" val="16171582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091" y="187186"/>
            <a:ext cx="1903085" cy="507831"/>
          </a:xfrm>
          <a:prstGeom prst="rect">
            <a:avLst/>
          </a:prstGeom>
        </p:spPr>
        <p:txBody>
          <a:bodyPr wrap="none">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Level 2 Diagram:</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2"/>
          <a:stretch>
            <a:fillRect/>
          </a:stretch>
        </p:blipFill>
        <p:spPr>
          <a:xfrm>
            <a:off x="3124200" y="1289050"/>
            <a:ext cx="5943600" cy="4279900"/>
          </a:xfrm>
          <a:prstGeom prst="rect">
            <a:avLst/>
          </a:prstGeom>
        </p:spPr>
      </p:pic>
    </p:spTree>
    <p:extLst>
      <p:ext uri="{BB962C8B-B14F-4D97-AF65-F5344CB8AC3E}">
        <p14:creationId xmlns:p14="http://schemas.microsoft.com/office/powerpoint/2010/main" val="22919727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65793" y="1556492"/>
            <a:ext cx="3521157" cy="507831"/>
          </a:xfrm>
          <a:prstGeom prst="rect">
            <a:avLst/>
          </a:prstGeom>
        </p:spPr>
        <p:txBody>
          <a:bodyPr wrap="none">
            <a:spAutoFit/>
          </a:bodyPr>
          <a:lstStyle/>
          <a:p>
            <a:pPr algn="just">
              <a:lnSpc>
                <a:spcPct val="150000"/>
              </a:lnSpc>
              <a:spcAft>
                <a:spcPts val="800"/>
              </a:spcAft>
            </a:pPr>
            <a:r>
              <a:rPr lang="en-US"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Home Page:</a:t>
            </a:r>
            <a:r>
              <a:rPr lang="en-US">
                <a:solidFill>
                  <a:srgbClr val="000000"/>
                </a:solidFill>
                <a:latin typeface="Times New Roman" panose="02020603050405020304" pitchFamily="18" charset="0"/>
                <a:ea typeface="Calibri" panose="020F0502020204030204" pitchFamily="34" charset="0"/>
                <a:cs typeface="Times New Roman" panose="02020603050405020304" pitchFamily="18" charset="0"/>
              </a:rPr>
              <a:t> This is the home page.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2"/>
          <a:stretch>
            <a:fillRect/>
          </a:stretch>
        </p:blipFill>
        <p:spPr>
          <a:xfrm>
            <a:off x="3155731" y="2530836"/>
            <a:ext cx="5943600" cy="3246755"/>
          </a:xfrm>
          <a:prstGeom prst="rect">
            <a:avLst/>
          </a:prstGeom>
        </p:spPr>
      </p:pic>
    </p:spTree>
    <p:extLst>
      <p:ext uri="{BB962C8B-B14F-4D97-AF65-F5344CB8AC3E}">
        <p14:creationId xmlns:p14="http://schemas.microsoft.com/office/powerpoint/2010/main" val="30972308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96864" y="1167609"/>
            <a:ext cx="4384534" cy="507831"/>
          </a:xfrm>
          <a:prstGeom prst="rect">
            <a:avLst/>
          </a:prstGeom>
        </p:spPr>
        <p:txBody>
          <a:bodyPr wrap="none">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About page: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here some details about project.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p:nvPr/>
        </p:nvPicPr>
        <p:blipFill>
          <a:blip r:embed="rId2"/>
          <a:stretch>
            <a:fillRect/>
          </a:stretch>
        </p:blipFill>
        <p:spPr>
          <a:xfrm>
            <a:off x="3124200" y="1805622"/>
            <a:ext cx="5943600" cy="3246755"/>
          </a:xfrm>
          <a:prstGeom prst="rect">
            <a:avLst/>
          </a:prstGeom>
        </p:spPr>
      </p:pic>
    </p:spTree>
    <p:extLst>
      <p:ext uri="{BB962C8B-B14F-4D97-AF65-F5344CB8AC3E}">
        <p14:creationId xmlns:p14="http://schemas.microsoft.com/office/powerpoint/2010/main" val="11270954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4193" y="1014276"/>
            <a:ext cx="6096000" cy="646331"/>
          </a:xfrm>
          <a:prstGeom prst="rect">
            <a:avLst/>
          </a:prstGeom>
        </p:spPr>
        <p:txBody>
          <a:bodyPr>
            <a:spAutoFit/>
          </a:bodyPr>
          <a:lstStyle/>
          <a:p>
            <a:r>
              <a:rPr lang="en-US" b="1" dirty="0">
                <a:solidFill>
                  <a:srgbClr val="000000"/>
                </a:solidFill>
                <a:latin typeface="Times New Roman" panose="02020603050405020304" pitchFamily="18" charset="0"/>
                <a:ea typeface="Calibri" panose="020F0502020204030204" pitchFamily="34" charset="0"/>
              </a:rPr>
              <a:t>Registration Page: </a:t>
            </a:r>
            <a:r>
              <a:rPr lang="en-US" dirty="0">
                <a:solidFill>
                  <a:srgbClr val="000000"/>
                </a:solidFill>
                <a:latin typeface="Times New Roman" panose="02020603050405020304" pitchFamily="18" charset="0"/>
                <a:ea typeface="Calibri" panose="020F0502020204030204" pitchFamily="34" charset="0"/>
              </a:rPr>
              <a:t>Here user can register by providing required details</a:t>
            </a:r>
            <a:endParaRPr lang="en-IN" dirty="0"/>
          </a:p>
        </p:txBody>
      </p:sp>
      <p:pic>
        <p:nvPicPr>
          <p:cNvPr id="3" name="Picture 2"/>
          <p:cNvPicPr/>
          <p:nvPr/>
        </p:nvPicPr>
        <p:blipFill>
          <a:blip r:embed="rId2"/>
          <a:stretch>
            <a:fillRect/>
          </a:stretch>
        </p:blipFill>
        <p:spPr>
          <a:xfrm>
            <a:off x="3124200" y="1804987"/>
            <a:ext cx="5943600" cy="3248025"/>
          </a:xfrm>
          <a:prstGeom prst="rect">
            <a:avLst/>
          </a:prstGeom>
        </p:spPr>
      </p:pic>
    </p:spTree>
    <p:extLst>
      <p:ext uri="{BB962C8B-B14F-4D97-AF65-F5344CB8AC3E}">
        <p14:creationId xmlns:p14="http://schemas.microsoft.com/office/powerpoint/2010/main" val="4047325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7462" y="1043941"/>
            <a:ext cx="6096000" cy="923330"/>
          </a:xfrm>
          <a:prstGeom prst="rect">
            <a:avLst/>
          </a:prstGeom>
        </p:spPr>
        <p:txBody>
          <a:bodyPr>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Login Page: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here user can login by giving their registered email and password.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p:nvPr/>
        </p:nvPicPr>
        <p:blipFill>
          <a:blip r:embed="rId2"/>
          <a:stretch>
            <a:fillRect/>
          </a:stretch>
        </p:blipFill>
        <p:spPr>
          <a:xfrm>
            <a:off x="3124200" y="1805940"/>
            <a:ext cx="5943600" cy="3246120"/>
          </a:xfrm>
          <a:prstGeom prst="rect">
            <a:avLst/>
          </a:prstGeom>
        </p:spPr>
      </p:pic>
    </p:spTree>
    <p:extLst>
      <p:ext uri="{BB962C8B-B14F-4D97-AF65-F5344CB8AC3E}">
        <p14:creationId xmlns:p14="http://schemas.microsoft.com/office/powerpoint/2010/main" val="1486682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6235" y="1191087"/>
            <a:ext cx="6096000" cy="923330"/>
          </a:xfrm>
          <a:prstGeom prst="rect">
            <a:avLst/>
          </a:prstGeom>
        </p:spPr>
        <p:txBody>
          <a:bodyPr>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Home page: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here user will redirect to home page of user when they successfully login.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p:nvPr/>
        </p:nvPicPr>
        <p:blipFill>
          <a:blip r:embed="rId2"/>
          <a:stretch>
            <a:fillRect/>
          </a:stretch>
        </p:blipFill>
        <p:spPr>
          <a:xfrm>
            <a:off x="3113690" y="1977663"/>
            <a:ext cx="5943600" cy="3281045"/>
          </a:xfrm>
          <a:prstGeom prst="rect">
            <a:avLst/>
          </a:prstGeom>
        </p:spPr>
      </p:pic>
    </p:spTree>
    <p:extLst>
      <p:ext uri="{BB962C8B-B14F-4D97-AF65-F5344CB8AC3E}">
        <p14:creationId xmlns:p14="http://schemas.microsoft.com/office/powerpoint/2010/main" val="11088023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2262" y="1012411"/>
            <a:ext cx="6096000" cy="923330"/>
          </a:xfrm>
          <a:prstGeom prst="rect">
            <a:avLst/>
          </a:prstGeom>
        </p:spPr>
        <p:txBody>
          <a:bodyPr>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Upload File: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here user can upload file with providing key and data.</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p:nvPr/>
        </p:nvPicPr>
        <p:blipFill>
          <a:blip r:embed="rId2"/>
          <a:stretch>
            <a:fillRect/>
          </a:stretch>
        </p:blipFill>
        <p:spPr>
          <a:xfrm>
            <a:off x="3040117" y="2276048"/>
            <a:ext cx="5943600" cy="3251835"/>
          </a:xfrm>
          <a:prstGeom prst="rect">
            <a:avLst/>
          </a:prstGeom>
        </p:spPr>
      </p:pic>
    </p:spTree>
    <p:extLst>
      <p:ext uri="{BB962C8B-B14F-4D97-AF65-F5344CB8AC3E}">
        <p14:creationId xmlns:p14="http://schemas.microsoft.com/office/powerpoint/2010/main" val="26517368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31390" y="1388326"/>
            <a:ext cx="5735288" cy="507831"/>
          </a:xfrm>
          <a:prstGeom prst="rect">
            <a:avLst/>
          </a:prstGeom>
        </p:spPr>
        <p:txBody>
          <a:bodyPr wrap="none">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View File: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here user can view their file which are uploaded.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p:nvPr/>
        </p:nvPicPr>
        <p:blipFill>
          <a:blip r:embed="rId2"/>
          <a:stretch>
            <a:fillRect/>
          </a:stretch>
        </p:blipFill>
        <p:spPr>
          <a:xfrm>
            <a:off x="2335925" y="2283986"/>
            <a:ext cx="5943600" cy="3235960"/>
          </a:xfrm>
          <a:prstGeom prst="rect">
            <a:avLst/>
          </a:prstGeom>
        </p:spPr>
      </p:pic>
    </p:spTree>
    <p:extLst>
      <p:ext uri="{BB962C8B-B14F-4D97-AF65-F5344CB8AC3E}">
        <p14:creationId xmlns:p14="http://schemas.microsoft.com/office/powerpoint/2010/main" val="673793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7462" y="917817"/>
            <a:ext cx="6096000" cy="923330"/>
          </a:xfrm>
          <a:prstGeom prst="rect">
            <a:avLst/>
          </a:prstGeom>
        </p:spPr>
        <p:txBody>
          <a:bodyPr>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View Request: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here user can view requests then they will decide accept or reject.</a:t>
            </a: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p:nvPr/>
        </p:nvPicPr>
        <p:blipFill>
          <a:blip r:embed="rId2"/>
          <a:stretch>
            <a:fillRect/>
          </a:stretch>
        </p:blipFill>
        <p:spPr>
          <a:xfrm>
            <a:off x="2987565" y="2591040"/>
            <a:ext cx="5943600" cy="3252470"/>
          </a:xfrm>
          <a:prstGeom prst="rect">
            <a:avLst/>
          </a:prstGeom>
        </p:spPr>
      </p:pic>
    </p:spTree>
    <p:extLst>
      <p:ext uri="{BB962C8B-B14F-4D97-AF65-F5344CB8AC3E}">
        <p14:creationId xmlns:p14="http://schemas.microsoft.com/office/powerpoint/2010/main" val="15704103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5523" y="1220161"/>
            <a:ext cx="6049477" cy="507831"/>
          </a:xfrm>
          <a:prstGeom prst="rect">
            <a:avLst/>
          </a:prstGeom>
        </p:spPr>
        <p:txBody>
          <a:bodyPr wrap="none">
            <a:spAutoFit/>
          </a:bodyPr>
          <a:lstStyle/>
          <a:p>
            <a:pPr algn="just">
              <a:lnSpc>
                <a:spcPct val="150000"/>
              </a:lnSpc>
              <a:spcAft>
                <a:spcPts val="800"/>
              </a:spcAft>
            </a:pPr>
            <a:r>
              <a:rPr lang="en-US" b="1">
                <a:solidFill>
                  <a:srgbClr val="000000"/>
                </a:solidFill>
                <a:latin typeface="Times New Roman" panose="02020603050405020304" pitchFamily="18" charset="0"/>
                <a:ea typeface="Calibri" panose="020F0502020204030204" pitchFamily="34" charset="0"/>
                <a:cs typeface="Times New Roman" panose="02020603050405020304" pitchFamily="18" charset="0"/>
              </a:rPr>
              <a:t>View Response: </a:t>
            </a:r>
            <a:r>
              <a:rPr lang="en-US">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Here user can view response of requested file.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p:nvPr/>
        </p:nvPicPr>
        <p:blipFill>
          <a:blip r:embed="rId2"/>
          <a:stretch>
            <a:fillRect/>
          </a:stretch>
        </p:blipFill>
        <p:spPr>
          <a:xfrm>
            <a:off x="2956035" y="2512038"/>
            <a:ext cx="5943600" cy="3242310"/>
          </a:xfrm>
          <a:prstGeom prst="rect">
            <a:avLst/>
          </a:prstGeom>
        </p:spPr>
      </p:pic>
    </p:spTree>
    <p:extLst>
      <p:ext uri="{BB962C8B-B14F-4D97-AF65-F5344CB8AC3E}">
        <p14:creationId xmlns:p14="http://schemas.microsoft.com/office/powerpoint/2010/main" val="9682981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4881" y="915361"/>
            <a:ext cx="5893601" cy="507831"/>
          </a:xfrm>
          <a:prstGeom prst="rect">
            <a:avLst/>
          </a:prstGeom>
        </p:spPr>
        <p:txBody>
          <a:bodyPr wrap="none">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Profile: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here user can view their profile later they can update.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p:nvPr/>
        </p:nvPicPr>
        <p:blipFill>
          <a:blip r:embed="rId2"/>
          <a:stretch>
            <a:fillRect/>
          </a:stretch>
        </p:blipFill>
        <p:spPr>
          <a:xfrm>
            <a:off x="3029606" y="2284336"/>
            <a:ext cx="5943600" cy="3256280"/>
          </a:xfrm>
          <a:prstGeom prst="rect">
            <a:avLst/>
          </a:prstGeom>
        </p:spPr>
      </p:pic>
    </p:spTree>
    <p:extLst>
      <p:ext uri="{BB962C8B-B14F-4D97-AF65-F5344CB8AC3E}">
        <p14:creationId xmlns:p14="http://schemas.microsoft.com/office/powerpoint/2010/main" val="34897120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0636" y="1030974"/>
            <a:ext cx="4185761" cy="507831"/>
          </a:xfrm>
          <a:prstGeom prst="rect">
            <a:avLst/>
          </a:prstGeom>
        </p:spPr>
        <p:txBody>
          <a:bodyPr wrap="none">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Request file: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here user can request the file.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p:nvPr/>
        </p:nvPicPr>
        <p:blipFill>
          <a:blip r:embed="rId2"/>
          <a:stretch>
            <a:fillRect/>
          </a:stretch>
        </p:blipFill>
        <p:spPr>
          <a:xfrm>
            <a:off x="3124200" y="1800542"/>
            <a:ext cx="5943600" cy="3256915"/>
          </a:xfrm>
          <a:prstGeom prst="rect">
            <a:avLst/>
          </a:prstGeom>
        </p:spPr>
      </p:pic>
    </p:spTree>
    <p:extLst>
      <p:ext uri="{BB962C8B-B14F-4D97-AF65-F5344CB8AC3E}">
        <p14:creationId xmlns:p14="http://schemas.microsoft.com/office/powerpoint/2010/main" val="25283900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96335" y="1020465"/>
            <a:ext cx="4448654" cy="507831"/>
          </a:xfrm>
          <a:prstGeom prst="rect">
            <a:avLst/>
          </a:prstGeom>
        </p:spPr>
        <p:txBody>
          <a:bodyPr wrap="none">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Download page:</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here user can download file.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p:nvPr/>
        </p:nvPicPr>
        <p:blipFill>
          <a:blip r:embed="rId2"/>
          <a:stretch>
            <a:fillRect/>
          </a:stretch>
        </p:blipFill>
        <p:spPr>
          <a:xfrm>
            <a:off x="2973189" y="2306943"/>
            <a:ext cx="5943600" cy="3253105"/>
          </a:xfrm>
          <a:prstGeom prst="rect">
            <a:avLst/>
          </a:prstGeom>
        </p:spPr>
      </p:pic>
    </p:spTree>
    <p:extLst>
      <p:ext uri="{BB962C8B-B14F-4D97-AF65-F5344CB8AC3E}">
        <p14:creationId xmlns:p14="http://schemas.microsoft.com/office/powerpoint/2010/main" val="23694208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0378" y="789237"/>
            <a:ext cx="5448928" cy="507831"/>
          </a:xfrm>
          <a:prstGeom prst="rect">
            <a:avLst/>
          </a:prstGeom>
        </p:spPr>
        <p:txBody>
          <a:bodyPr wrap="none">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Admin login: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here admin can login by providing details.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p:nvPr/>
        </p:nvPicPr>
        <p:blipFill>
          <a:blip r:embed="rId2"/>
          <a:stretch>
            <a:fillRect/>
          </a:stretch>
        </p:blipFill>
        <p:spPr>
          <a:xfrm>
            <a:off x="3029607" y="2110740"/>
            <a:ext cx="5943600" cy="3246120"/>
          </a:xfrm>
          <a:prstGeom prst="rect">
            <a:avLst/>
          </a:prstGeom>
        </p:spPr>
      </p:pic>
    </p:spTree>
    <p:extLst>
      <p:ext uri="{BB962C8B-B14F-4D97-AF65-F5344CB8AC3E}">
        <p14:creationId xmlns:p14="http://schemas.microsoft.com/office/powerpoint/2010/main" val="28590224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8276" y="1054452"/>
            <a:ext cx="6096000" cy="923330"/>
          </a:xfrm>
          <a:prstGeom prst="rect">
            <a:avLst/>
          </a:prstGeom>
        </p:spPr>
        <p:txBody>
          <a:bodyPr>
            <a:spAutoFit/>
          </a:bodyPr>
          <a:lstStyle/>
          <a:p>
            <a:pPr algn="just">
              <a:lnSpc>
                <a:spcPct val="150000"/>
              </a:lnSpc>
              <a:spcAft>
                <a:spcPts val="800"/>
              </a:spcAft>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View user: </a:t>
            </a: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here admin can view users then admin can give access to user to login to the website.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p:nvPr/>
        </p:nvPicPr>
        <p:blipFill>
          <a:blip r:embed="rId2"/>
          <a:stretch>
            <a:fillRect/>
          </a:stretch>
        </p:blipFill>
        <p:spPr>
          <a:xfrm>
            <a:off x="3061138" y="2722880"/>
            <a:ext cx="5943600" cy="3241040"/>
          </a:xfrm>
          <a:prstGeom prst="rect">
            <a:avLst/>
          </a:prstGeom>
        </p:spPr>
      </p:pic>
    </p:spTree>
    <p:extLst>
      <p:ext uri="{BB962C8B-B14F-4D97-AF65-F5344CB8AC3E}">
        <p14:creationId xmlns:p14="http://schemas.microsoft.com/office/powerpoint/2010/main" val="1318899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501581" y="223234"/>
            <a:ext cx="8596668" cy="768439"/>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3600" b="1" dirty="0" smtClean="0">
                <a:latin typeface="Times New Roman" panose="02020603050405020304" pitchFamily="18" charset="0"/>
                <a:cs typeface="Times New Roman" panose="02020603050405020304" pitchFamily="18" charset="0"/>
              </a:rPr>
              <a:t>CONCLUSION</a:t>
            </a:r>
            <a:endParaRPr lang="en-US" sz="3600" dirty="0"/>
          </a:p>
        </p:txBody>
      </p:sp>
      <p:sp>
        <p:nvSpPr>
          <p:cNvPr id="3" name="Rectangle 2"/>
          <p:cNvSpPr/>
          <p:nvPr/>
        </p:nvSpPr>
        <p:spPr>
          <a:xfrm>
            <a:off x="1501581" y="1197249"/>
            <a:ext cx="9136368" cy="5371792"/>
          </a:xfrm>
          <a:prstGeom prst="rect">
            <a:avLst/>
          </a:prstGeom>
        </p:spPr>
        <p:txBody>
          <a:bodyPr wrap="square">
            <a:spAutoFit/>
          </a:bodyPr>
          <a:lstStyle/>
          <a:p>
            <a:pPr algn="just">
              <a:lnSpc>
                <a:spcPct val="150000"/>
              </a:lnSpc>
              <a:spcBef>
                <a:spcPts val="120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This project presents an advanced Reversible Data Hiding in Encrypted Images (RDH-EI) method designed to efficiently and securely embed data in encrypted grayscale images while maintaining the integrity of the original image. By employing Edge-Directed Prediction (EDP) and Multi-MSB Self-Prediction, the system enhances embedding capacity without compromising image quality or recovery accuracy. Additionally, the integration of a user authorization system with OTP verification ensures that only authorized users can access and download the data, adding an extra layer of security. Compared to existing RDH-EI techniques, this system achieves superior embedding capacity, security, and image recovery, making it well-suited for applications in cloud storage and secure communications.</a:t>
            </a:r>
          </a:p>
          <a:p>
            <a:pPr algn="just">
              <a:lnSpc>
                <a:spcPct val="150000"/>
              </a:lnSpc>
              <a:spcBef>
                <a:spcPts val="1200"/>
              </a:spcBef>
              <a:spcAft>
                <a:spcPts val="800"/>
              </a:spcAft>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781370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92744" y="97034"/>
            <a:ext cx="5891357" cy="834524"/>
          </a:xfrm>
          <a:prstGeom prst="rect">
            <a:avLst/>
          </a:prstGeom>
        </p:spPr>
        <p:txBody>
          <a:bodyPr wrap="none">
            <a:spAutoFit/>
          </a:bodyPr>
          <a:lstStyle/>
          <a:p>
            <a:pPr marR="0" lvl="0" algn="ctr">
              <a:lnSpc>
                <a:spcPct val="150000"/>
              </a:lnSpc>
              <a:spcBef>
                <a:spcPts val="0"/>
              </a:spcBef>
              <a:spcAft>
                <a:spcPts val="1000"/>
              </a:spcAft>
            </a:pPr>
            <a:r>
              <a:rPr lang="en-US" sz="3600" b="1" dirty="0" smtClean="0">
                <a:effectLst/>
                <a:latin typeface="Times New Roman" panose="02020603050405020304" pitchFamily="18" charset="0"/>
                <a:ea typeface="Calibri" panose="020F0502020204030204" pitchFamily="34" charset="0"/>
                <a:cs typeface="Times New Roman" panose="02020603050405020304" pitchFamily="18" charset="0"/>
              </a:rPr>
              <a:t>FUTURE ENHANCEMENT</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315310" y="1199289"/>
            <a:ext cx="11750565" cy="4708981"/>
          </a:xfrm>
          <a:prstGeom prst="rect">
            <a:avLst/>
          </a:prstGeom>
        </p:spPr>
        <p:txBody>
          <a:bodyPr wrap="square">
            <a:spAutoFit/>
          </a:bodyPr>
          <a:lstStyle/>
          <a:p>
            <a:pPr marL="57150" marR="0" algn="just">
              <a:lnSpc>
                <a:spcPct val="150000"/>
              </a:lnSpc>
              <a:spcBef>
                <a:spcPts val="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Future improvements to the system could focus on optimizing the data embedding algorithms, such as further enhancing EDP and Multi-MSB Self-Prediction techniques to achieve higher embedding capacities while preserving image quality. Real-time processing capabilities could also be introduced to facilitate dynamic environments like live streaming or real-time communication. Moreover, expanding the system to support multiple data owners and users concurrently would enhance scalability for larger datasets in cloud-based applications. Further strengthening security by incorporating additional encryption methods and multi-factor authentication could provide even more robust protection for data access. Finally, making the system compatible across various platforms and devices would ensure broader accessibility and deployment, enhancing its usability in diverse environments. These future enhancements will improve the system’s efficiency, security, and versatility, making it a more powerful solution for secure data embedding and retrieval applications.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676738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746280" y="107324"/>
            <a:ext cx="8596668" cy="132080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smtClean="0">
                <a:latin typeface="Times New Roman" panose="02020603050405020304" pitchFamily="18" charset="0"/>
                <a:cs typeface="Times New Roman" panose="02020603050405020304" pitchFamily="18" charset="0"/>
              </a:rPr>
              <a:t>REFERENCES</a:t>
            </a:r>
            <a:endParaRPr lang="en-US" dirty="0"/>
          </a:p>
        </p:txBody>
      </p:sp>
      <p:sp>
        <p:nvSpPr>
          <p:cNvPr id="3" name="Rectangle 2"/>
          <p:cNvSpPr/>
          <p:nvPr/>
        </p:nvSpPr>
        <p:spPr>
          <a:xfrm>
            <a:off x="283779" y="561853"/>
            <a:ext cx="11792607" cy="6145272"/>
          </a:xfrm>
          <a:prstGeom prst="rect">
            <a:avLst/>
          </a:prstGeom>
        </p:spPr>
        <p:txBody>
          <a:bodyPr wrap="square">
            <a:spAutoFit/>
          </a:bodyPr>
          <a:lstStyle/>
          <a:p>
            <a:pPr marL="228600" marR="0" algn="just">
              <a:lnSpc>
                <a:spcPct val="150000"/>
              </a:lnSpc>
              <a:spcBef>
                <a:spcPts val="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[1]	</a:t>
            </a:r>
            <a:r>
              <a:rPr lang="en-US" sz="2000" dirty="0" err="1">
                <a:latin typeface="Times New Roman" panose="02020603050405020304" pitchFamily="18" charset="0"/>
                <a:ea typeface="Calibri" panose="020F0502020204030204" pitchFamily="34" charset="0"/>
                <a:cs typeface="Times New Roman" panose="02020603050405020304" pitchFamily="18" charset="0"/>
              </a:rPr>
              <a:t>Yingqiang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Qiu</a:t>
            </a:r>
            <a:r>
              <a:rPr lang="en-US" sz="2000" dirty="0">
                <a:latin typeface="Times New Roman" panose="02020603050405020304" pitchFamily="18" charset="0"/>
                <a:ea typeface="Calibri" panose="020F0502020204030204" pitchFamily="34" charset="0"/>
                <a:cs typeface="Times New Roman" panose="02020603050405020304" pitchFamily="18" charset="0"/>
              </a:rPr>
              <a:t>, “Reversible Data Hiding in Encrypted Images Based on Edge‑Directed Prediction and Multi‑MSB Self‑Prediction,” 7 April 2025 </a:t>
            </a:r>
          </a:p>
          <a:p>
            <a:pPr marL="228600" marR="0" algn="just">
              <a:lnSpc>
                <a:spcPct val="150000"/>
              </a:lnSpc>
              <a:spcBef>
                <a:spcPts val="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[2]	Fang Ren; </a:t>
            </a:r>
            <a:r>
              <a:rPr lang="en-US" sz="2000" dirty="0" err="1">
                <a:latin typeface="Times New Roman" panose="02020603050405020304" pitchFamily="18" charset="0"/>
                <a:ea typeface="Calibri" panose="020F0502020204030204" pitchFamily="34" charset="0"/>
                <a:cs typeface="Times New Roman" panose="02020603050405020304" pitchFamily="18" charset="0"/>
              </a:rPr>
              <a:t>Zhelin</a:t>
            </a:r>
            <a:r>
              <a:rPr lang="en-US" sz="2000" dirty="0">
                <a:latin typeface="Times New Roman" panose="02020603050405020304" pitchFamily="18" charset="0"/>
                <a:ea typeface="Calibri" panose="020F0502020204030204" pitchFamily="34" charset="0"/>
                <a:cs typeface="Times New Roman" panose="02020603050405020304" pitchFamily="18" charset="0"/>
              </a:rPr>
              <a:t> Zhang; Kai Jiang; </a:t>
            </a:r>
            <a:r>
              <a:rPr lang="en-US" sz="2000" dirty="0" err="1">
                <a:latin typeface="Times New Roman" panose="02020603050405020304" pitchFamily="18" charset="0"/>
                <a:ea typeface="Calibri" panose="020F0502020204030204" pitchFamily="34" charset="0"/>
                <a:cs typeface="Times New Roman" panose="02020603050405020304" pitchFamily="18" charset="0"/>
              </a:rPr>
              <a:t>Peiyang</a:t>
            </a:r>
            <a:r>
              <a:rPr lang="en-US" sz="2000" dirty="0">
                <a:latin typeface="Times New Roman" panose="02020603050405020304" pitchFamily="18" charset="0"/>
                <a:ea typeface="Calibri" panose="020F0502020204030204" pitchFamily="34" charset="0"/>
                <a:cs typeface="Times New Roman" panose="02020603050405020304" pitchFamily="18" charset="0"/>
              </a:rPr>
              <a:t> Zhang; </a:t>
            </a:r>
            <a:r>
              <a:rPr lang="en-US" sz="2000" dirty="0" err="1">
                <a:latin typeface="Times New Roman" panose="02020603050405020304" pitchFamily="18" charset="0"/>
                <a:ea typeface="Calibri" panose="020F0502020204030204" pitchFamily="34" charset="0"/>
                <a:cs typeface="Times New Roman" panose="02020603050405020304" pitchFamily="18" charset="0"/>
              </a:rPr>
              <a:t>Tengfei</a:t>
            </a:r>
            <a:r>
              <a:rPr lang="en-US" sz="2000" dirty="0">
                <a:latin typeface="Times New Roman" panose="02020603050405020304" pitchFamily="18" charset="0"/>
                <a:ea typeface="Calibri" panose="020F0502020204030204" pitchFamily="34" charset="0"/>
                <a:cs typeface="Times New Roman" panose="02020603050405020304" pitchFamily="18" charset="0"/>
              </a:rPr>
              <a:t> Yang, “Reversible Data Hiding and Authentication Scheme for Encrypted Images Based on Prediction Error Compression,” July 2025 </a:t>
            </a:r>
          </a:p>
          <a:p>
            <a:pPr marL="228600" marR="0" algn="just">
              <a:lnSpc>
                <a:spcPct val="150000"/>
              </a:lnSpc>
              <a:spcBef>
                <a:spcPts val="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[3]	</a:t>
            </a:r>
            <a:r>
              <a:rPr lang="en-US" sz="2000" dirty="0" err="1">
                <a:latin typeface="Times New Roman" panose="02020603050405020304" pitchFamily="18" charset="0"/>
                <a:ea typeface="Calibri" panose="020F0502020204030204" pitchFamily="34" charset="0"/>
                <a:cs typeface="Times New Roman" panose="02020603050405020304" pitchFamily="18" charset="0"/>
              </a:rPr>
              <a:t>Huan</a:t>
            </a:r>
            <a:r>
              <a:rPr lang="en-US" sz="2000" dirty="0">
                <a:latin typeface="Times New Roman" panose="02020603050405020304" pitchFamily="18" charset="0"/>
                <a:ea typeface="Calibri" panose="020F0502020204030204" pitchFamily="34" charset="0"/>
                <a:cs typeface="Times New Roman" panose="02020603050405020304" pitchFamily="18" charset="0"/>
              </a:rPr>
              <a:t> Zhou; </a:t>
            </a:r>
            <a:r>
              <a:rPr lang="en-US" sz="2000" dirty="0" err="1">
                <a:latin typeface="Times New Roman" panose="02020603050405020304" pitchFamily="18" charset="0"/>
                <a:ea typeface="Calibri" panose="020F0502020204030204" pitchFamily="34" charset="0"/>
                <a:cs typeface="Times New Roman" panose="02020603050405020304" pitchFamily="18" charset="0"/>
              </a:rPr>
              <a:t>Guanghui</a:t>
            </a:r>
            <a:r>
              <a:rPr lang="en-US" sz="2000" dirty="0">
                <a:latin typeface="Times New Roman" panose="02020603050405020304" pitchFamily="18" charset="0"/>
                <a:ea typeface="Calibri" panose="020F0502020204030204" pitchFamily="34" charset="0"/>
                <a:cs typeface="Times New Roman" panose="02020603050405020304" pitchFamily="18" charset="0"/>
              </a:rPr>
              <a:t> Chen, “Reversible Data Hiding in Encrypted Image with Local‑Correlation‑Based Classification and Adaptive Encoding Strategy,” 2023 </a:t>
            </a:r>
          </a:p>
          <a:p>
            <a:pPr marL="228600" marR="0" algn="just">
              <a:lnSpc>
                <a:spcPct val="150000"/>
              </a:lnSpc>
              <a:spcBef>
                <a:spcPts val="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[4]	</a:t>
            </a:r>
            <a:r>
              <a:rPr lang="en-US" sz="2000" dirty="0" err="1">
                <a:latin typeface="Times New Roman" panose="02020603050405020304" pitchFamily="18" charset="0"/>
                <a:ea typeface="Calibri" panose="020F0502020204030204" pitchFamily="34" charset="0"/>
                <a:cs typeface="Times New Roman" panose="02020603050405020304" pitchFamily="18" charset="0"/>
              </a:rPr>
              <a:t>Yiming</a:t>
            </a:r>
            <a:r>
              <a:rPr lang="en-US" sz="2000" dirty="0">
                <a:latin typeface="Times New Roman" panose="02020603050405020304" pitchFamily="18" charset="0"/>
                <a:ea typeface="Calibri" panose="020F0502020204030204" pitchFamily="34" charset="0"/>
                <a:cs typeface="Times New Roman" panose="02020603050405020304" pitchFamily="18" charset="0"/>
              </a:rPr>
              <a:t> Wang; </a:t>
            </a:r>
            <a:r>
              <a:rPr lang="en-US" sz="2000" dirty="0" err="1">
                <a:latin typeface="Times New Roman" panose="02020603050405020304" pitchFamily="18" charset="0"/>
                <a:ea typeface="Calibri" panose="020F0502020204030204" pitchFamily="34" charset="0"/>
                <a:cs typeface="Times New Roman" panose="02020603050405020304" pitchFamily="18" charset="0"/>
              </a:rPr>
              <a:t>Guoqiang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Xiong</a:t>
            </a:r>
            <a:r>
              <a:rPr lang="en-US" sz="2000" dirty="0">
                <a:latin typeface="Times New Roman" panose="02020603050405020304" pitchFamily="18" charset="0"/>
                <a:ea typeface="Calibri" panose="020F0502020204030204" pitchFamily="34" charset="0"/>
                <a:cs typeface="Times New Roman" panose="02020603050405020304" pitchFamily="18" charset="0"/>
              </a:rPr>
              <a:t>; Wei He, “High‑Capacity Reversible Data Hiding in Encrypted Images Based on Pixel‑Value‑Ordering and Histogram Shifting,” 2023 </a:t>
            </a:r>
          </a:p>
          <a:p>
            <a:pPr marL="228600" marR="0" algn="just">
              <a:lnSpc>
                <a:spcPct val="150000"/>
              </a:lnSpc>
              <a:spcBef>
                <a:spcPts val="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[5]	R. </a:t>
            </a:r>
            <a:r>
              <a:rPr lang="en-US" sz="2000" dirty="0" err="1">
                <a:latin typeface="Times New Roman" panose="02020603050405020304" pitchFamily="18" charset="0"/>
                <a:ea typeface="Calibri" panose="020F0502020204030204" pitchFamily="34" charset="0"/>
                <a:cs typeface="Times New Roman" panose="02020603050405020304" pitchFamily="18" charset="0"/>
              </a:rPr>
              <a:t>Anushiadevi</a:t>
            </a:r>
            <a:r>
              <a:rPr lang="en-US" sz="2000" dirty="0">
                <a:latin typeface="Times New Roman" panose="02020603050405020304" pitchFamily="18" charset="0"/>
                <a:ea typeface="Calibri" panose="020F0502020204030204" pitchFamily="34" charset="0"/>
                <a:cs typeface="Times New Roman" panose="02020603050405020304" pitchFamily="18" charset="0"/>
              </a:rPr>
              <a:t>; R. </a:t>
            </a:r>
            <a:r>
              <a:rPr lang="en-US" sz="2000" dirty="0" err="1">
                <a:latin typeface="Times New Roman" panose="02020603050405020304" pitchFamily="18" charset="0"/>
                <a:ea typeface="Calibri" panose="020F0502020204030204" pitchFamily="34" charset="0"/>
                <a:cs typeface="Times New Roman" panose="02020603050405020304" pitchFamily="18" charset="0"/>
              </a:rPr>
              <a:t>Amirtharajan</a:t>
            </a:r>
            <a:r>
              <a:rPr lang="en-US" sz="2000" dirty="0">
                <a:latin typeface="Times New Roman" panose="02020603050405020304" pitchFamily="18" charset="0"/>
                <a:ea typeface="Calibri" panose="020F0502020204030204" pitchFamily="34" charset="0"/>
                <a:cs typeface="Times New Roman" panose="02020603050405020304" pitchFamily="18" charset="0"/>
              </a:rPr>
              <a:t>, “Separable Reversible Data Hiding in an Encrypted Image Using the Adjacency Pixel Difference Histogram,” 2023 </a:t>
            </a:r>
          </a:p>
          <a:p>
            <a:pPr marL="228600" marR="0" algn="just">
              <a:lnSpc>
                <a:spcPct val="150000"/>
              </a:lnSpc>
              <a:spcBef>
                <a:spcPts val="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[6]	</a:t>
            </a:r>
            <a:r>
              <a:rPr lang="en-US" sz="2000" dirty="0" err="1">
                <a:latin typeface="Times New Roman" panose="02020603050405020304" pitchFamily="18" charset="0"/>
                <a:ea typeface="Calibri" panose="020F0502020204030204" pitchFamily="34" charset="0"/>
                <a:cs typeface="Times New Roman" panose="02020603050405020304" pitchFamily="18" charset="0"/>
              </a:rPr>
              <a:t>Qingfeng</a:t>
            </a:r>
            <a:r>
              <a:rPr lang="en-US" sz="2000" dirty="0">
                <a:latin typeface="Times New Roman" panose="02020603050405020304" pitchFamily="18" charset="0"/>
                <a:ea typeface="Calibri" panose="020F0502020204030204" pitchFamily="34" charset="0"/>
                <a:cs typeface="Times New Roman" panose="02020603050405020304" pitchFamily="18" charset="0"/>
              </a:rPr>
              <a:t> Feng; </a:t>
            </a:r>
            <a:r>
              <a:rPr lang="en-US" sz="2000" dirty="0" err="1">
                <a:latin typeface="Times New Roman" panose="02020603050405020304" pitchFamily="18" charset="0"/>
                <a:ea typeface="Calibri" panose="020F0502020204030204" pitchFamily="34" charset="0"/>
                <a:cs typeface="Times New Roman" panose="02020603050405020304" pitchFamily="18" charset="0"/>
              </a:rPr>
              <a:t>Lihua</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Leng</a:t>
            </a:r>
            <a:r>
              <a:rPr lang="en-US" sz="2000" dirty="0">
                <a:latin typeface="Times New Roman" panose="02020603050405020304" pitchFamily="18" charset="0"/>
                <a:ea typeface="Calibri" panose="020F0502020204030204" pitchFamily="34" charset="0"/>
                <a:cs typeface="Times New Roman" panose="02020603050405020304" pitchFamily="18" charset="0"/>
              </a:rPr>
              <a:t>; Chun‑</a:t>
            </a:r>
            <a:r>
              <a:rPr lang="en-US" sz="2000" dirty="0" err="1">
                <a:latin typeface="Times New Roman" panose="02020603050405020304" pitchFamily="18" charset="0"/>
                <a:ea typeface="Calibri" panose="020F0502020204030204" pitchFamily="34" charset="0"/>
                <a:cs typeface="Times New Roman" panose="02020603050405020304" pitchFamily="18" charset="0"/>
              </a:rPr>
              <a:t>Chieh</a:t>
            </a:r>
            <a:r>
              <a:rPr lang="en-US" sz="2000" dirty="0">
                <a:latin typeface="Times New Roman" panose="02020603050405020304" pitchFamily="18" charset="0"/>
                <a:ea typeface="Calibri" panose="020F0502020204030204" pitchFamily="34" charset="0"/>
                <a:cs typeface="Times New Roman" panose="02020603050405020304" pitchFamily="18" charset="0"/>
              </a:rPr>
              <a:t> Chang; Jun‑Hong </a:t>
            </a:r>
            <a:r>
              <a:rPr lang="en-US" sz="2000" dirty="0" err="1">
                <a:latin typeface="Times New Roman" panose="02020603050405020304" pitchFamily="18" charset="0"/>
                <a:ea typeface="Calibri" panose="020F0502020204030204" pitchFamily="34" charset="0"/>
                <a:cs typeface="Times New Roman" panose="02020603050405020304" pitchFamily="18" charset="0"/>
              </a:rPr>
              <a:t>Horng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Meng‑Hsuan</a:t>
            </a:r>
            <a:r>
              <a:rPr lang="en-US" sz="2000" dirty="0">
                <a:latin typeface="Times New Roman" panose="02020603050405020304" pitchFamily="18" charset="0"/>
                <a:ea typeface="Calibri" panose="020F0502020204030204" pitchFamily="34" charset="0"/>
                <a:cs typeface="Times New Roman" panose="02020603050405020304" pitchFamily="18" charset="0"/>
              </a:rPr>
              <a:t> Wu, “Reversible Data Hiding in Encrypted Images with Extended Parametric Binary Tree Labeling,” 2023 </a:t>
            </a:r>
          </a:p>
        </p:txBody>
      </p:sp>
    </p:spTree>
    <p:extLst>
      <p:ext uri="{BB962C8B-B14F-4D97-AF65-F5344CB8AC3E}">
        <p14:creationId xmlns:p14="http://schemas.microsoft.com/office/powerpoint/2010/main" val="2077126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3270" y="617867"/>
            <a:ext cx="11750565" cy="6145272"/>
          </a:xfrm>
          <a:prstGeom prst="rect">
            <a:avLst/>
          </a:prstGeom>
        </p:spPr>
        <p:txBody>
          <a:bodyPr wrap="square">
            <a:spAutoFit/>
          </a:bodyPr>
          <a:lstStyle/>
          <a:p>
            <a:pPr marL="228600" marR="0" algn="just">
              <a:lnSpc>
                <a:spcPct val="150000"/>
              </a:lnSpc>
              <a:spcBef>
                <a:spcPts val="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[7]	</a:t>
            </a:r>
            <a:r>
              <a:rPr lang="en-US" sz="2000" dirty="0" err="1">
                <a:latin typeface="Times New Roman" panose="02020603050405020304" pitchFamily="18" charset="0"/>
                <a:ea typeface="Calibri" panose="020F0502020204030204" pitchFamily="34" charset="0"/>
                <a:cs typeface="Times New Roman" panose="02020603050405020304" pitchFamily="18" charset="0"/>
              </a:rPr>
              <a:t>Princy</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Jeena</a:t>
            </a:r>
            <a:r>
              <a:rPr lang="en-US" sz="2000" dirty="0">
                <a:latin typeface="Times New Roman" panose="02020603050405020304" pitchFamily="18" charset="0"/>
                <a:ea typeface="Calibri" panose="020F0502020204030204" pitchFamily="34" charset="0"/>
                <a:cs typeface="Times New Roman" panose="02020603050405020304" pitchFamily="18" charset="0"/>
              </a:rPr>
              <a:t>; R. </a:t>
            </a:r>
            <a:r>
              <a:rPr lang="en-US" sz="2000" dirty="0" err="1">
                <a:latin typeface="Times New Roman" panose="02020603050405020304" pitchFamily="18" charset="0"/>
                <a:ea typeface="Calibri" panose="020F0502020204030204" pitchFamily="34" charset="0"/>
                <a:cs typeface="Times New Roman" panose="02020603050405020304" pitchFamily="18" charset="0"/>
              </a:rPr>
              <a:t>Shreelekshmi</a:t>
            </a:r>
            <a:r>
              <a:rPr lang="en-US" sz="2000" dirty="0">
                <a:latin typeface="Times New Roman" panose="02020603050405020304" pitchFamily="18" charset="0"/>
                <a:ea typeface="Calibri" panose="020F0502020204030204" pitchFamily="34" charset="0"/>
                <a:cs typeface="Times New Roman" panose="02020603050405020304" pitchFamily="18" charset="0"/>
              </a:rPr>
              <a:t>, “High Capacity Reversible Data Hiding in Encrypted Images Using Block Labeling,” 2023 </a:t>
            </a:r>
          </a:p>
          <a:p>
            <a:pPr marL="228600" marR="0" algn="just">
              <a:lnSpc>
                <a:spcPct val="150000"/>
              </a:lnSpc>
              <a:spcBef>
                <a:spcPts val="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[8]	P. V. </a:t>
            </a:r>
            <a:r>
              <a:rPr lang="en-US" sz="2000" dirty="0" err="1">
                <a:latin typeface="Times New Roman" panose="02020603050405020304" pitchFamily="18" charset="0"/>
                <a:ea typeface="Calibri" panose="020F0502020204030204" pitchFamily="34" charset="0"/>
                <a:cs typeface="Times New Roman" panose="02020603050405020304" pitchFamily="18" charset="0"/>
              </a:rPr>
              <a:t>Deshmukh</a:t>
            </a:r>
            <a:r>
              <a:rPr lang="en-US" sz="2000" dirty="0">
                <a:latin typeface="Times New Roman" panose="02020603050405020304" pitchFamily="18" charset="0"/>
                <a:ea typeface="Calibri" panose="020F0502020204030204" pitchFamily="34" charset="0"/>
                <a:cs typeface="Times New Roman" panose="02020603050405020304" pitchFamily="18" charset="0"/>
              </a:rPr>
              <a:t>; A. S. </a:t>
            </a:r>
            <a:r>
              <a:rPr lang="en-US" sz="2000" dirty="0" err="1">
                <a:latin typeface="Times New Roman" panose="02020603050405020304" pitchFamily="18" charset="0"/>
                <a:ea typeface="Calibri" panose="020F0502020204030204" pitchFamily="34" charset="0"/>
                <a:cs typeface="Times New Roman" panose="02020603050405020304" pitchFamily="18" charset="0"/>
              </a:rPr>
              <a:t>Kapse</a:t>
            </a:r>
            <a:r>
              <a:rPr lang="en-US" sz="2000" dirty="0">
                <a:latin typeface="Times New Roman" panose="02020603050405020304" pitchFamily="18" charset="0"/>
                <a:ea typeface="Calibri" panose="020F0502020204030204" pitchFamily="34" charset="0"/>
                <a:cs typeface="Times New Roman" panose="02020603050405020304" pitchFamily="18" charset="0"/>
              </a:rPr>
              <a:t>; V. M. </a:t>
            </a:r>
            <a:r>
              <a:rPr lang="en-US" sz="2000" dirty="0" err="1">
                <a:latin typeface="Times New Roman" panose="02020603050405020304" pitchFamily="18" charset="0"/>
                <a:ea typeface="Calibri" panose="020F0502020204030204" pitchFamily="34" charset="0"/>
                <a:cs typeface="Times New Roman" panose="02020603050405020304" pitchFamily="18" charset="0"/>
              </a:rPr>
              <a:t>Thakare</a:t>
            </a:r>
            <a:r>
              <a:rPr lang="en-US" sz="2000" dirty="0">
                <a:latin typeface="Times New Roman" panose="02020603050405020304" pitchFamily="18" charset="0"/>
                <a:ea typeface="Calibri" panose="020F0502020204030204" pitchFamily="34" charset="0"/>
                <a:cs typeface="Times New Roman" panose="02020603050405020304" pitchFamily="18" charset="0"/>
              </a:rPr>
              <a:t>; A. S. </a:t>
            </a:r>
            <a:r>
              <a:rPr lang="en-US" sz="2000" dirty="0" err="1">
                <a:latin typeface="Times New Roman" panose="02020603050405020304" pitchFamily="18" charset="0"/>
                <a:ea typeface="Calibri" panose="020F0502020204030204" pitchFamily="34" charset="0"/>
                <a:cs typeface="Times New Roman" panose="02020603050405020304" pitchFamily="18" charset="0"/>
              </a:rPr>
              <a:t>Kapse</a:t>
            </a:r>
            <a:r>
              <a:rPr lang="en-US" sz="2000" dirty="0">
                <a:latin typeface="Times New Roman" panose="02020603050405020304" pitchFamily="18" charset="0"/>
                <a:ea typeface="Calibri" panose="020F0502020204030204" pitchFamily="34" charset="0"/>
                <a:cs typeface="Times New Roman" panose="02020603050405020304" pitchFamily="18" charset="0"/>
              </a:rPr>
              <a:t>, “High Capacity Reversible Data Hiding in Encrypted Images Using Multi‑MSB Data Hiding Mechanism with Elliptic Curve Cryptography,” 2023 </a:t>
            </a:r>
          </a:p>
          <a:p>
            <a:pPr marL="228600" marR="0" algn="just">
              <a:lnSpc>
                <a:spcPct val="150000"/>
              </a:lnSpc>
              <a:spcBef>
                <a:spcPts val="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[9]	C. Y. </a:t>
            </a:r>
            <a:r>
              <a:rPr lang="en-US" sz="2000" dirty="0" err="1">
                <a:latin typeface="Times New Roman" panose="02020603050405020304" pitchFamily="18" charset="0"/>
                <a:ea typeface="Calibri" panose="020F0502020204030204" pitchFamily="34" charset="0"/>
                <a:cs typeface="Times New Roman" panose="02020603050405020304" pitchFamily="18" charset="0"/>
              </a:rPr>
              <a:t>Weng</a:t>
            </a:r>
            <a:r>
              <a:rPr lang="en-US" sz="2000" dirty="0">
                <a:latin typeface="Times New Roman" panose="02020603050405020304" pitchFamily="18" charset="0"/>
                <a:ea typeface="Calibri" panose="020F0502020204030204" pitchFamily="34" charset="0"/>
                <a:cs typeface="Times New Roman" panose="02020603050405020304" pitchFamily="18" charset="0"/>
              </a:rPr>
              <a:t>; C. H. Yang, “Reversible Data Hiding in Encrypted Image Using Multiple Data‑Hiders Sharing Algorithm,” 2023 </a:t>
            </a:r>
          </a:p>
          <a:p>
            <a:pPr marL="228600" marR="0" algn="just">
              <a:lnSpc>
                <a:spcPct val="150000"/>
              </a:lnSpc>
              <a:spcBef>
                <a:spcPts val="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[10]	Shao‑Ying Xu; Chun‑</a:t>
            </a:r>
            <a:r>
              <a:rPr lang="en-US" sz="2000" dirty="0" err="1">
                <a:latin typeface="Times New Roman" panose="02020603050405020304" pitchFamily="18" charset="0"/>
                <a:ea typeface="Calibri" panose="020F0502020204030204" pitchFamily="34" charset="0"/>
                <a:cs typeface="Times New Roman" panose="02020603050405020304" pitchFamily="18" charset="0"/>
              </a:rPr>
              <a:t>Chieh</a:t>
            </a:r>
            <a:r>
              <a:rPr lang="en-US" sz="2000" dirty="0">
                <a:latin typeface="Times New Roman" panose="02020603050405020304" pitchFamily="18" charset="0"/>
                <a:ea typeface="Calibri" panose="020F0502020204030204" pitchFamily="34" charset="0"/>
                <a:cs typeface="Times New Roman" panose="02020603050405020304" pitchFamily="18" charset="0"/>
              </a:rPr>
              <a:t> Chang; Jun‑Wei </a:t>
            </a:r>
            <a:r>
              <a:rPr lang="en-US" sz="2000" dirty="0" err="1">
                <a:latin typeface="Times New Roman" panose="02020603050405020304" pitchFamily="18" charset="0"/>
                <a:ea typeface="Calibri" panose="020F0502020204030204" pitchFamily="34" charset="0"/>
                <a:cs typeface="Times New Roman" panose="02020603050405020304" pitchFamily="18" charset="0"/>
              </a:rPr>
              <a:t>Horng</a:t>
            </a:r>
            <a:r>
              <a:rPr lang="en-US" sz="2000" dirty="0">
                <a:latin typeface="Times New Roman" panose="02020603050405020304" pitchFamily="18" charset="0"/>
                <a:ea typeface="Calibri" panose="020F0502020204030204" pitchFamily="34" charset="0"/>
                <a:cs typeface="Times New Roman" panose="02020603050405020304" pitchFamily="18" charset="0"/>
              </a:rPr>
              <a:t>, “A Steganography Based on Optimal Multi‑Threshold Block Labeling,” 2022 </a:t>
            </a:r>
          </a:p>
          <a:p>
            <a:pPr marL="228600" marR="0" algn="just">
              <a:lnSpc>
                <a:spcPct val="150000"/>
              </a:lnSpc>
              <a:spcBef>
                <a:spcPts val="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[11]	</a:t>
            </a:r>
            <a:r>
              <a:rPr lang="en-US" sz="2000" dirty="0" err="1">
                <a:latin typeface="Times New Roman" panose="02020603050405020304" pitchFamily="18" charset="0"/>
                <a:ea typeface="Calibri" panose="020F0502020204030204" pitchFamily="34" charset="0"/>
                <a:cs typeface="Times New Roman" panose="02020603050405020304" pitchFamily="18" charset="0"/>
              </a:rPr>
              <a:t>Zehua</a:t>
            </a:r>
            <a:r>
              <a:rPr lang="en-US" sz="2000" dirty="0">
                <a:latin typeface="Times New Roman" panose="02020603050405020304" pitchFamily="18" charset="0"/>
                <a:ea typeface="Calibri" panose="020F0502020204030204" pitchFamily="34" charset="0"/>
                <a:cs typeface="Times New Roman" panose="02020603050405020304" pitchFamily="18" charset="0"/>
              </a:rPr>
              <a:t> Hua; </a:t>
            </a:r>
            <a:r>
              <a:rPr lang="en-US" sz="2000" dirty="0" err="1">
                <a:latin typeface="Times New Roman" panose="02020603050405020304" pitchFamily="18" charset="0"/>
                <a:ea typeface="Calibri" panose="020F0502020204030204" pitchFamily="34" charset="0"/>
                <a:cs typeface="Times New Roman" panose="02020603050405020304" pitchFamily="18" charset="0"/>
              </a:rPr>
              <a:t>Yuxuan</a:t>
            </a:r>
            <a:r>
              <a:rPr lang="en-US" sz="2000" dirty="0">
                <a:latin typeface="Times New Roman" panose="02020603050405020304" pitchFamily="18" charset="0"/>
                <a:ea typeface="Calibri" panose="020F0502020204030204" pitchFamily="34" charset="0"/>
                <a:cs typeface="Times New Roman" panose="02020603050405020304" pitchFamily="18" charset="0"/>
              </a:rPr>
              <a:t> Wang; </a:t>
            </a:r>
            <a:r>
              <a:rPr lang="en-US" sz="2000" dirty="0" err="1">
                <a:latin typeface="Times New Roman" panose="02020603050405020304" pitchFamily="18" charset="0"/>
                <a:ea typeface="Calibri" panose="020F0502020204030204" pitchFamily="34" charset="0"/>
                <a:cs typeface="Times New Roman" panose="02020603050405020304" pitchFamily="18" charset="0"/>
              </a:rPr>
              <a:t>Shengyi</a:t>
            </a:r>
            <a:r>
              <a:rPr lang="en-US" sz="2000" dirty="0">
                <a:latin typeface="Times New Roman" panose="02020603050405020304" pitchFamily="18" charset="0"/>
                <a:ea typeface="Calibri" panose="020F0502020204030204" pitchFamily="34" charset="0"/>
                <a:cs typeface="Times New Roman" panose="02020603050405020304" pitchFamily="18" charset="0"/>
              </a:rPr>
              <a:t> Yi; Yong Zhou; Xin </a:t>
            </a:r>
            <a:r>
              <a:rPr lang="en-US" sz="2000" dirty="0" err="1">
                <a:latin typeface="Times New Roman" panose="02020603050405020304" pitchFamily="18" charset="0"/>
                <a:ea typeface="Calibri" panose="020F0502020204030204" pitchFamily="34" charset="0"/>
                <a:cs typeface="Times New Roman" panose="02020603050405020304" pitchFamily="18" charset="0"/>
              </a:rPr>
              <a:t>Jia</a:t>
            </a:r>
            <a:r>
              <a:rPr lang="en-US" sz="2000" dirty="0">
                <a:latin typeface="Times New Roman" panose="02020603050405020304" pitchFamily="18" charset="0"/>
                <a:ea typeface="Calibri" panose="020F0502020204030204" pitchFamily="34" charset="0"/>
                <a:cs typeface="Times New Roman" panose="02020603050405020304" pitchFamily="18" charset="0"/>
              </a:rPr>
              <a:t>, “Reversible Data Hiding in Encrypted Images Using Cipher‑Feedback Secret Sharing,” August 2022 </a:t>
            </a:r>
          </a:p>
          <a:p>
            <a:pPr marL="228600" marR="0" algn="just">
              <a:lnSpc>
                <a:spcPct val="150000"/>
              </a:lnSpc>
              <a:spcBef>
                <a:spcPts val="0"/>
              </a:spcBef>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[12] </a:t>
            </a:r>
            <a:r>
              <a:rPr lang="en-US" sz="2000" dirty="0" err="1">
                <a:latin typeface="Times New Roman" panose="02020603050405020304" pitchFamily="18" charset="0"/>
                <a:ea typeface="Calibri" panose="020F0502020204030204" pitchFamily="34" charset="0"/>
                <a:cs typeface="Times New Roman" panose="02020603050405020304" pitchFamily="18" charset="0"/>
              </a:rPr>
              <a:t>Zehua</a:t>
            </a:r>
            <a:r>
              <a:rPr lang="en-US" sz="2000" dirty="0">
                <a:latin typeface="Times New Roman" panose="02020603050405020304" pitchFamily="18" charset="0"/>
                <a:ea typeface="Calibri" panose="020F0502020204030204" pitchFamily="34" charset="0"/>
                <a:cs typeface="Times New Roman" panose="02020603050405020304" pitchFamily="18" charset="0"/>
              </a:rPr>
              <a:t> Hua; </a:t>
            </a:r>
            <a:r>
              <a:rPr lang="en-US" sz="2000" dirty="0" err="1">
                <a:latin typeface="Times New Roman" panose="02020603050405020304" pitchFamily="18" charset="0"/>
                <a:ea typeface="Calibri" panose="020F0502020204030204" pitchFamily="34" charset="0"/>
                <a:cs typeface="Times New Roman" panose="02020603050405020304" pitchFamily="18" charset="0"/>
              </a:rPr>
              <a:t>Yuxuan</a:t>
            </a:r>
            <a:r>
              <a:rPr lang="en-US" sz="2000" dirty="0">
                <a:latin typeface="Times New Roman" panose="02020603050405020304" pitchFamily="18" charset="0"/>
                <a:ea typeface="Calibri" panose="020F0502020204030204" pitchFamily="34" charset="0"/>
                <a:cs typeface="Times New Roman" panose="02020603050405020304" pitchFamily="18" charset="0"/>
              </a:rPr>
              <a:t> Wang; </a:t>
            </a:r>
            <a:r>
              <a:rPr lang="en-US" sz="2000" dirty="0" err="1">
                <a:latin typeface="Times New Roman" panose="02020603050405020304" pitchFamily="18" charset="0"/>
                <a:ea typeface="Calibri" panose="020F0502020204030204" pitchFamily="34" charset="0"/>
                <a:cs typeface="Times New Roman" panose="02020603050405020304" pitchFamily="18" charset="0"/>
              </a:rPr>
              <a:t>Shengyi</a:t>
            </a:r>
            <a:r>
              <a:rPr lang="en-US" sz="2000" dirty="0">
                <a:latin typeface="Times New Roman" panose="02020603050405020304" pitchFamily="18" charset="0"/>
                <a:ea typeface="Calibri" panose="020F0502020204030204" pitchFamily="34" charset="0"/>
                <a:cs typeface="Times New Roman" panose="02020603050405020304" pitchFamily="18" charset="0"/>
              </a:rPr>
              <a:t> Yi; </a:t>
            </a:r>
            <a:r>
              <a:rPr lang="en-US" sz="2000" dirty="0" err="1">
                <a:latin typeface="Times New Roman" panose="02020603050405020304" pitchFamily="18" charset="0"/>
                <a:ea typeface="Calibri" panose="020F0502020204030204" pitchFamily="34" charset="0"/>
                <a:cs typeface="Times New Roman" panose="02020603050405020304" pitchFamily="18" charset="0"/>
              </a:rPr>
              <a:t>Yichen</a:t>
            </a:r>
            <a:r>
              <a:rPr lang="en-US" sz="2000" dirty="0">
                <a:latin typeface="Times New Roman" panose="02020603050405020304" pitchFamily="18" charset="0"/>
                <a:ea typeface="Calibri" panose="020F0502020204030204" pitchFamily="34" charset="0"/>
                <a:cs typeface="Times New Roman" panose="02020603050405020304" pitchFamily="18" charset="0"/>
              </a:rPr>
              <a:t> Zheng; </a:t>
            </a:r>
            <a:r>
              <a:rPr lang="en-US" sz="2000" dirty="0" err="1">
                <a:latin typeface="Times New Roman" panose="02020603050405020304" pitchFamily="18" charset="0"/>
                <a:ea typeface="Calibri" panose="020F0502020204030204" pitchFamily="34" charset="0"/>
                <a:cs typeface="Times New Roman" panose="02020603050405020304" pitchFamily="18" charset="0"/>
              </a:rPr>
              <a:t>Xiaoyue</a:t>
            </a:r>
            <a:r>
              <a:rPr lang="en-US" sz="2000" dirty="0">
                <a:latin typeface="Times New Roman" panose="02020603050405020304" pitchFamily="18" charset="0"/>
                <a:ea typeface="Calibri" panose="020F0502020204030204" pitchFamily="34" charset="0"/>
                <a:cs typeface="Times New Roman" panose="02020603050405020304" pitchFamily="18" charset="0"/>
              </a:rPr>
              <a:t> Liu; Ying Chen; Xiaobo Zhang, “Matrix‑Based Secret Sharing for Reversible Data Hiding in Encrypted Images,” September 2023</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itle 1"/>
          <p:cNvSpPr txBox="1">
            <a:spLocks/>
          </p:cNvSpPr>
          <p:nvPr/>
        </p:nvSpPr>
        <p:spPr>
          <a:xfrm>
            <a:off x="1746280" y="107324"/>
            <a:ext cx="8596668" cy="132080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smtClean="0">
                <a:latin typeface="Times New Roman" panose="02020603050405020304" pitchFamily="18" charset="0"/>
                <a:cs typeface="Times New Roman" panose="02020603050405020304" pitchFamily="18" charset="0"/>
              </a:rPr>
              <a:t>REFERENCES</a:t>
            </a:r>
            <a:endParaRPr lang="en-US" dirty="0"/>
          </a:p>
        </p:txBody>
      </p:sp>
    </p:spTree>
    <p:extLst>
      <p:ext uri="{BB962C8B-B14F-4D97-AF65-F5344CB8AC3E}">
        <p14:creationId xmlns:p14="http://schemas.microsoft.com/office/powerpoint/2010/main" val="36092033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199</TotalTime>
  <Words>3825</Words>
  <Application>Microsoft Office PowerPoint</Application>
  <PresentationFormat>Widescreen</PresentationFormat>
  <Paragraphs>219</Paragraphs>
  <Slides>56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56</vt:i4>
      </vt:variant>
    </vt:vector>
  </HeadingPairs>
  <TitlesOfParts>
    <vt:vector size="66" baseType="lpstr">
      <vt:lpstr>Arial</vt:lpstr>
      <vt:lpstr>Calibri</vt:lpstr>
      <vt:lpstr>Calibri Light</vt:lpstr>
      <vt:lpstr>Century Gothic</vt:lpstr>
      <vt:lpstr>Garamond</vt:lpstr>
      <vt:lpstr>Symbol</vt:lpstr>
      <vt:lpstr>Times New Roman</vt:lpstr>
      <vt:lpstr>Wingdings</vt:lpstr>
      <vt:lpstr>Wingdings 3</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vt:lpstr>
      <vt:lpstr>IMPLEMENTATION </vt:lpstr>
      <vt:lpstr>IMPLEMENTATION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PREETHI DESAI</dc:creator>
  <cp:lastModifiedBy>Ajit Muduli</cp:lastModifiedBy>
  <cp:revision>23</cp:revision>
  <dcterms:created xsi:type="dcterms:W3CDTF">2023-01-02T10:56:06Z</dcterms:created>
  <dcterms:modified xsi:type="dcterms:W3CDTF">2025-07-24T13:51:51Z</dcterms:modified>
</cp:coreProperties>
</file>